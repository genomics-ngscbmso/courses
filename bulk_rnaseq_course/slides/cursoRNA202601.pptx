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401" r:id="rId3"/>
    <p:sldId id="375" r:id="rId4"/>
    <p:sldId id="382" r:id="rId5"/>
    <p:sldId id="405" r:id="rId6"/>
    <p:sldId id="388" r:id="rId7"/>
    <p:sldId id="350" r:id="rId8"/>
    <p:sldId id="403" r:id="rId9"/>
    <p:sldId id="404" r:id="rId10"/>
    <p:sldId id="406" r:id="rId11"/>
    <p:sldId id="370" r:id="rId12"/>
    <p:sldId id="383" r:id="rId13"/>
    <p:sldId id="384" r:id="rId14"/>
    <p:sldId id="385" r:id="rId15"/>
    <p:sldId id="386" r:id="rId16"/>
    <p:sldId id="342" r:id="rId17"/>
    <p:sldId id="387" r:id="rId18"/>
    <p:sldId id="407" r:id="rId19"/>
    <p:sldId id="408" r:id="rId20"/>
    <p:sldId id="409" r:id="rId21"/>
    <p:sldId id="410" r:id="rId22"/>
    <p:sldId id="319" r:id="rId23"/>
    <p:sldId id="322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CED7"/>
    <a:srgbClr val="AB0501"/>
    <a:srgbClr val="C09C16"/>
    <a:srgbClr val="6ED412"/>
    <a:srgbClr val="BE0E90"/>
    <a:srgbClr val="0E601E"/>
    <a:srgbClr val="020D5E"/>
    <a:srgbClr val="2F51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50" autoAdjust="0"/>
    <p:restoredTop sz="95324" autoAdjust="0"/>
  </p:normalViewPr>
  <p:slideViewPr>
    <p:cSldViewPr snapToGrid="0">
      <p:cViewPr varScale="1">
        <p:scale>
          <a:sx n="102" d="100"/>
          <a:sy n="102" d="100"/>
        </p:scale>
        <p:origin x="10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6EE028-7FB0-439F-BF4E-251B1028E8BE}" type="datetimeFigureOut">
              <a:rPr lang="es-ES" smtClean="0"/>
              <a:t>19/01/2026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8ED9F3-2FAF-4752-A0FE-9B9A764C03E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1167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87C61-5A03-6CE3-4911-05C59C3FC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ADBAC6-CAF8-CFB7-BA21-BBCF4C0FC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984EB3-26FA-B802-D7A5-E5F42B17F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Comando: instrucción que quieres ejecutar.</a:t>
            </a:r>
          </a:p>
          <a:p>
            <a:r>
              <a:rPr lang="es-ES" dirty="0"/>
              <a:t>Opciones: modifican el comportamiento del comando.</a:t>
            </a:r>
          </a:p>
          <a:p>
            <a:r>
              <a:rPr lang="es-ES" dirty="0"/>
              <a:t>Argumento: objetos sobre los que el comando actúa.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F83A1-10A1-E1C9-682B-6DD568A66E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8ED9F3-2FAF-4752-A0FE-9B9A764C03EB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6496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D76A8-97F1-859D-55C2-460FD0F27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B79B9-FC9F-579A-24DD-B05313A22F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ECA2B-CFD4-5057-B319-46D581142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Comando: instrucción que quieres ejecutar.</a:t>
            </a:r>
          </a:p>
          <a:p>
            <a:r>
              <a:rPr lang="es-ES" dirty="0"/>
              <a:t>Opciones: modifican el comportamiento del comando.</a:t>
            </a:r>
          </a:p>
          <a:p>
            <a:r>
              <a:rPr lang="es-ES" dirty="0"/>
              <a:t>Argumento: objetos sobre los que el comando actúa.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FBF79-B5D6-4169-677A-72FE30561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8ED9F3-2FAF-4752-A0FE-9B9A764C03EB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4346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5FCB9-CEC3-54DF-7D86-FBA43929C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B26A81-5397-BB31-823C-C671FC8B8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81E53C-C7ED-5276-1A9A-323EE2E85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Count</a:t>
            </a:r>
            <a:r>
              <a:rPr lang="en-GB" baseline="0" dirty="0"/>
              <a:t> based is natural fit for raw count quantitation</a:t>
            </a:r>
          </a:p>
          <a:p>
            <a:endParaRPr lang="en-GB" baseline="0" dirty="0"/>
          </a:p>
          <a:p>
            <a:r>
              <a:rPr lang="en-GB" baseline="0" dirty="0"/>
              <a:t>Continuous would work with cufflinks or other transcript level quantitation.</a:t>
            </a:r>
          </a:p>
          <a:p>
            <a:endParaRPr lang="en-GB" baseline="0" dirty="0"/>
          </a:p>
          <a:p>
            <a:r>
              <a:rPr lang="en-GB" baseline="0" dirty="0"/>
              <a:t>Binomial stats are very powerful with good power to detect changes.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1C501-D359-3D49-9B81-15B1F1CBD1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B8047-4DBE-4D08-925D-E49847F6EC2C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6276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0A166-F35F-238C-4432-F6AE0E6C3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F1780C-4A34-45C9-6F4F-1E8FC70B2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69C89A-013F-E5B1-7CF8-0E62C0E25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Count</a:t>
            </a:r>
            <a:r>
              <a:rPr lang="en-GB" baseline="0" dirty="0"/>
              <a:t> based is natural fit for raw count quantitation</a:t>
            </a:r>
          </a:p>
          <a:p>
            <a:endParaRPr lang="en-GB" baseline="0" dirty="0"/>
          </a:p>
          <a:p>
            <a:r>
              <a:rPr lang="en-GB" baseline="0" dirty="0"/>
              <a:t>Continuous would work with cufflinks or other transcript level quantitation.</a:t>
            </a:r>
          </a:p>
          <a:p>
            <a:endParaRPr lang="en-GB" baseline="0" dirty="0"/>
          </a:p>
          <a:p>
            <a:r>
              <a:rPr lang="en-GB" baseline="0" dirty="0"/>
              <a:t>Binomial stats are very powerful with good power to detect changes.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F14D1-05EB-F572-BB6C-0E3D7F6CFF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B8047-4DBE-4D08-925D-E49847F6EC2C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838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F533A1-1061-449C-9E9B-FC95CD855B78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6868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1F65C-162D-4576-B09F-2396534ED91E}" type="datetimeFigureOut">
              <a:rPr lang="es-ES" smtClean="0"/>
              <a:t>19/01/2026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155-4F30-4B8A-B9F7-F718419329C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8395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1F65C-162D-4576-B09F-2396534ED91E}" type="datetimeFigureOut">
              <a:rPr lang="es-ES" smtClean="0"/>
              <a:t>19/01/2026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155-4F30-4B8A-B9F7-F718419329C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3061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1F65C-162D-4576-B09F-2396534ED91E}" type="datetimeFigureOut">
              <a:rPr lang="es-ES" smtClean="0"/>
              <a:t>19/01/2026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155-4F30-4B8A-B9F7-F718419329C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41669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1F65C-162D-4576-B09F-2396534ED91E}" type="datetimeFigureOut">
              <a:rPr lang="es-ES" smtClean="0"/>
              <a:t>19/01/2026</a:t>
            </a:fld>
            <a:endParaRPr lang="es-E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155-4F30-4B8A-B9F7-F718419329C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5148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1F65C-162D-4576-B09F-2396534ED91E}" type="datetimeFigureOut">
              <a:rPr lang="es-ES" smtClean="0"/>
              <a:t>19/01/2026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155-4F30-4B8A-B9F7-F718419329C1}" type="slidenum">
              <a:rPr lang="es-ES" smtClean="0"/>
              <a:t>‹#›</a:t>
            </a:fld>
            <a:endParaRPr lang="es-E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659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1F65C-162D-4576-B09F-2396534ED91E}" type="datetimeFigureOut">
              <a:rPr lang="es-ES" smtClean="0"/>
              <a:t>19/01/2026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155-4F30-4B8A-B9F7-F718419329C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6335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1F65C-162D-4576-B09F-2396534ED91E}" type="datetimeFigureOut">
              <a:rPr lang="es-ES" smtClean="0"/>
              <a:t>19/01/2026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155-4F30-4B8A-B9F7-F718419329C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371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1F65C-162D-4576-B09F-2396534ED91E}" type="datetimeFigureOut">
              <a:rPr lang="es-ES" smtClean="0"/>
              <a:t>19/01/2026</a:t>
            </a:fld>
            <a:endParaRPr lang="es-E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s-E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155-4F30-4B8A-B9F7-F718419329C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4291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241F65C-162D-4576-B09F-2396534ED91E}" type="datetimeFigureOut">
              <a:rPr lang="es-ES" smtClean="0"/>
              <a:t>19/01/2026</a:t>
            </a:fld>
            <a:endParaRPr lang="es-E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s-E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155-4F30-4B8A-B9F7-F718419329C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5500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1F65C-162D-4576-B09F-2396534ED91E}" type="datetimeFigureOut">
              <a:rPr lang="es-ES" smtClean="0"/>
              <a:t>19/01/2026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155-4F30-4B8A-B9F7-F718419329C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5001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1F65C-162D-4576-B09F-2396534ED91E}" type="datetimeFigureOut">
              <a:rPr lang="es-ES" smtClean="0"/>
              <a:t>19/01/2026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155-4F30-4B8A-B9F7-F718419329C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5789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body" idx="1"/>
          </p:nvPr>
        </p:nvSpPr>
        <p:spPr>
          <a:xfrm>
            <a:off x="333375" y="312539"/>
            <a:ext cx="11525251" cy="6232922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672"/>
              <a:t>Nivel de texto 1</a:t>
            </a:r>
          </a:p>
          <a:p>
            <a:pPr lvl="1">
              <a:defRPr sz="1800"/>
            </a:pPr>
            <a:r>
              <a:rPr sz="2672"/>
              <a:t>Nivel de texto 2</a:t>
            </a:r>
          </a:p>
          <a:p>
            <a:pPr lvl="2">
              <a:defRPr sz="1800"/>
            </a:pPr>
            <a:r>
              <a:rPr sz="2672"/>
              <a:t>Nivel de texto 3</a:t>
            </a:r>
          </a:p>
          <a:p>
            <a:pPr lvl="3">
              <a:defRPr sz="1800"/>
            </a:pPr>
            <a:r>
              <a:rPr sz="2672"/>
              <a:t>Nivel de texto 4</a:t>
            </a:r>
          </a:p>
          <a:p>
            <a:pPr lvl="4">
              <a:defRPr sz="1800"/>
            </a:pPr>
            <a:r>
              <a:rPr sz="2672"/>
              <a:t>Nivel de texto 5</a:t>
            </a:r>
          </a:p>
        </p:txBody>
      </p:sp>
    </p:spTree>
    <p:extLst>
      <p:ext uri="{BB962C8B-B14F-4D97-AF65-F5344CB8AC3E}">
        <p14:creationId xmlns:p14="http://schemas.microsoft.com/office/powerpoint/2010/main" val="17655381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241F65C-162D-4576-B09F-2396534ED91E}" type="datetimeFigureOut">
              <a:rPr lang="es-ES" smtClean="0"/>
              <a:t>19/01/2026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3B2A155-4F30-4B8A-B9F7-F718419329C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477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g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1C07B3-9A50-EEC7-78C5-201E13E1C467}"/>
              </a:ext>
            </a:extLst>
          </p:cNvPr>
          <p:cNvSpPr txBox="1"/>
          <p:nvPr/>
        </p:nvSpPr>
        <p:spPr>
          <a:xfrm>
            <a:off x="3192296" y="2498785"/>
            <a:ext cx="581977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dirty="0"/>
              <a:t>RNA-</a:t>
            </a:r>
            <a:r>
              <a:rPr lang="es-ES" sz="5400" dirty="0" err="1"/>
              <a:t>seq</a:t>
            </a:r>
            <a:r>
              <a:rPr lang="es-ES" sz="5400" dirty="0"/>
              <a:t> </a:t>
            </a:r>
            <a:r>
              <a:rPr lang="es-ES" sz="5400" dirty="0" err="1"/>
              <a:t>Analysis</a:t>
            </a:r>
            <a:endParaRPr lang="es-ES" sz="5400" dirty="0"/>
          </a:p>
          <a:p>
            <a:pPr algn="ctr"/>
            <a:endParaRPr lang="es-E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767451-9DB2-1C6C-2253-A9EC185AB6CD}"/>
              </a:ext>
            </a:extLst>
          </p:cNvPr>
          <p:cNvSpPr txBox="1"/>
          <p:nvPr/>
        </p:nvSpPr>
        <p:spPr>
          <a:xfrm>
            <a:off x="2069060" y="3720398"/>
            <a:ext cx="80538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María Santos Romero; María Santos Galindo</a:t>
            </a:r>
          </a:p>
          <a:p>
            <a:pPr algn="ctr"/>
            <a:r>
              <a:rPr lang="es-ES" dirty="0"/>
              <a:t>Servicio de </a:t>
            </a:r>
            <a:r>
              <a:rPr lang="es-ES" dirty="0" err="1"/>
              <a:t>Análsis</a:t>
            </a:r>
            <a:r>
              <a:rPr lang="es-ES" dirty="0"/>
              <a:t> </a:t>
            </a:r>
            <a:r>
              <a:rPr lang="es-ES" dirty="0" err="1"/>
              <a:t>Biocomputacional</a:t>
            </a:r>
            <a:r>
              <a:rPr lang="es-ES" dirty="0"/>
              <a:t> (</a:t>
            </a:r>
            <a:r>
              <a:rPr lang="es-ES" dirty="0" err="1"/>
              <a:t>SABio</a:t>
            </a:r>
            <a:r>
              <a:rPr lang="es-ES" dirty="0"/>
              <a:t>); Centro de Biología Molecular (CBM)</a:t>
            </a:r>
          </a:p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50810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D4B86BE-CCB3-92A6-0606-AB173FDC9E7F}"/>
              </a:ext>
            </a:extLst>
          </p:cNvPr>
          <p:cNvSpPr txBox="1"/>
          <p:nvPr/>
        </p:nvSpPr>
        <p:spPr>
          <a:xfrm>
            <a:off x="1095866" y="1618036"/>
            <a:ext cx="718086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s-ES" sz="2000" dirty="0" err="1"/>
              <a:t>Quantifying</a:t>
            </a:r>
            <a:r>
              <a:rPr lang="es-ES" sz="2000" dirty="0"/>
              <a:t> </a:t>
            </a:r>
            <a:r>
              <a:rPr lang="es-ES" sz="2000" dirty="0" err="1"/>
              <a:t>the</a:t>
            </a:r>
            <a:r>
              <a:rPr lang="es-ES" sz="2000" dirty="0"/>
              <a:t> </a:t>
            </a:r>
            <a:r>
              <a:rPr lang="es-ES" sz="2000" dirty="0" err="1"/>
              <a:t>abundance</a:t>
            </a:r>
            <a:r>
              <a:rPr lang="es-ES" sz="2000" dirty="0"/>
              <a:t> </a:t>
            </a:r>
            <a:r>
              <a:rPr lang="es-ES" sz="2000" dirty="0" err="1"/>
              <a:t>of</a:t>
            </a:r>
            <a:r>
              <a:rPr lang="es-ES" sz="2000" dirty="0"/>
              <a:t> </a:t>
            </a:r>
            <a:r>
              <a:rPr lang="es-ES" sz="2000" dirty="0" err="1"/>
              <a:t>transcripts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 err="1"/>
              <a:t>Identify</a:t>
            </a:r>
            <a:r>
              <a:rPr lang="es-ES" sz="2000" dirty="0"/>
              <a:t> and </a:t>
            </a:r>
            <a:r>
              <a:rPr lang="es-ES" sz="2000" dirty="0" err="1"/>
              <a:t>quantify</a:t>
            </a:r>
            <a:r>
              <a:rPr lang="es-ES" sz="2000" dirty="0"/>
              <a:t> </a:t>
            </a:r>
            <a:r>
              <a:rPr lang="es-ES" sz="2000" dirty="0" err="1"/>
              <a:t>expression</a:t>
            </a:r>
            <a:r>
              <a:rPr lang="es-ES" sz="2000" dirty="0"/>
              <a:t> </a:t>
            </a:r>
            <a:r>
              <a:rPr lang="es-ES" sz="2000" dirty="0" err="1"/>
              <a:t>changes</a:t>
            </a:r>
            <a:r>
              <a:rPr lang="es-ES" sz="2000" dirty="0"/>
              <a:t> </a:t>
            </a:r>
            <a:r>
              <a:rPr lang="es-ES" sz="2000" dirty="0" err="1"/>
              <a:t>among</a:t>
            </a:r>
            <a:r>
              <a:rPr lang="es-ES" sz="2000" dirty="0"/>
              <a:t> </a:t>
            </a:r>
            <a:r>
              <a:rPr lang="es-ES" sz="2000" dirty="0" err="1"/>
              <a:t>conditions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 err="1"/>
              <a:t>Splicing</a:t>
            </a:r>
            <a:r>
              <a:rPr lang="es-ES" sz="2000" dirty="0"/>
              <a:t> </a:t>
            </a:r>
            <a:r>
              <a:rPr lang="es-ES" sz="2000" dirty="0" err="1"/>
              <a:t>analysis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/>
              <a:t>Non-</a:t>
            </a:r>
            <a:r>
              <a:rPr lang="es-ES" sz="2000" dirty="0" err="1"/>
              <a:t>coding</a:t>
            </a:r>
            <a:r>
              <a:rPr lang="es-ES" sz="2000" dirty="0"/>
              <a:t> RNA </a:t>
            </a:r>
            <a:r>
              <a:rPr lang="es-ES" sz="2000" dirty="0" err="1"/>
              <a:t>quantification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 err="1"/>
              <a:t>SNVs</a:t>
            </a:r>
            <a:r>
              <a:rPr lang="es-ES" sz="2000" dirty="0"/>
              <a:t> </a:t>
            </a:r>
            <a:r>
              <a:rPr lang="es-ES" sz="2000" dirty="0" err="1"/>
              <a:t>detection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 err="1"/>
              <a:t>Transcriptome</a:t>
            </a:r>
            <a:r>
              <a:rPr lang="es-ES" sz="2000" dirty="0"/>
              <a:t> </a:t>
            </a:r>
            <a:r>
              <a:rPr lang="es-ES" sz="2000" dirty="0" err="1"/>
              <a:t>assembly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/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1017C0-CE02-F71E-49A4-212B73C60E58}"/>
              </a:ext>
            </a:extLst>
          </p:cNvPr>
          <p:cNvSpPr txBox="1"/>
          <p:nvPr/>
        </p:nvSpPr>
        <p:spPr>
          <a:xfrm>
            <a:off x="765142" y="746288"/>
            <a:ext cx="638194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RNA-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seq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is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used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for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…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79092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dna sequence&#10;&#10;AI-generated content may be incorrect.">
            <a:extLst>
              <a:ext uri="{FF2B5EF4-FFF2-40B4-BE49-F238E27FC236}">
                <a16:creationId xmlns:a16="http://schemas.microsoft.com/office/drawing/2014/main" id="{6CA3669A-0DEE-EF9B-AE50-2D563051A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112" y="1847062"/>
            <a:ext cx="9091613" cy="4444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24E27E-BEB9-48B3-9771-FD36D5286ECC}"/>
              </a:ext>
            </a:extLst>
          </p:cNvPr>
          <p:cNvSpPr txBox="1"/>
          <p:nvPr/>
        </p:nvSpPr>
        <p:spPr>
          <a:xfrm>
            <a:off x="612742" y="593888"/>
            <a:ext cx="638194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RNA-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seq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protocol</a:t>
            </a:r>
            <a:endParaRPr lang="es-ES" sz="2800" b="1" dirty="0">
              <a:solidFill>
                <a:schemeClr val="tx2">
                  <a:lumMod val="50000"/>
                </a:schemeClr>
              </a:solidFill>
            </a:endParaRPr>
          </a:p>
          <a:p>
            <a:endParaRPr lang="es-E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107F1B-5DC1-FD1E-2760-5FABB000D305}"/>
              </a:ext>
            </a:extLst>
          </p:cNvPr>
          <p:cNvSpPr/>
          <p:nvPr/>
        </p:nvSpPr>
        <p:spPr>
          <a:xfrm>
            <a:off x="1894788" y="3968685"/>
            <a:ext cx="5335571" cy="19890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1A2ACC-CDC4-FDC0-6BFB-F2BD2F4B362A}"/>
              </a:ext>
            </a:extLst>
          </p:cNvPr>
          <p:cNvSpPr txBox="1"/>
          <p:nvPr/>
        </p:nvSpPr>
        <p:spPr>
          <a:xfrm>
            <a:off x="5733854" y="4588199"/>
            <a:ext cx="14965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dirty="0"/>
              <a:t>Single-</a:t>
            </a:r>
            <a:r>
              <a:rPr lang="es-ES" sz="1800" dirty="0" err="1"/>
              <a:t>end</a:t>
            </a:r>
            <a:endParaRPr lang="es-ES" sz="1800" dirty="0"/>
          </a:p>
          <a:p>
            <a:pPr algn="ctr"/>
            <a:r>
              <a:rPr lang="es-ES" dirty="0" err="1"/>
              <a:t>or</a:t>
            </a:r>
            <a:endParaRPr lang="es-ES" sz="1800" dirty="0"/>
          </a:p>
          <a:p>
            <a:pPr algn="ctr"/>
            <a:r>
              <a:rPr lang="es-ES" dirty="0" err="1"/>
              <a:t>Paired-end</a:t>
            </a:r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1121976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8266665-34C1-489B-D5F4-F4C0396F95E7}"/>
              </a:ext>
            </a:extLst>
          </p:cNvPr>
          <p:cNvGrpSpPr/>
          <p:nvPr/>
        </p:nvGrpSpPr>
        <p:grpSpPr>
          <a:xfrm>
            <a:off x="3062139" y="4048730"/>
            <a:ext cx="4206148" cy="493157"/>
            <a:chOff x="3062139" y="4048730"/>
            <a:chExt cx="4206148" cy="493157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F066FC34-78E3-6558-B688-0C4ACA7B51E5}"/>
                </a:ext>
              </a:extLst>
            </p:cNvPr>
            <p:cNvCxnSpPr/>
            <p:nvPr/>
          </p:nvCxnSpPr>
          <p:spPr>
            <a:xfrm>
              <a:off x="3287688" y="4235371"/>
              <a:ext cx="3744416" cy="0"/>
            </a:xfrm>
            <a:prstGeom prst="straightConnector1">
              <a:avLst/>
            </a:prstGeom>
            <a:ln w="38100"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D4952A2-5B76-A8A7-386F-BB5A3F06C8DD}"/>
                </a:ext>
              </a:extLst>
            </p:cNvPr>
            <p:cNvCxnSpPr/>
            <p:nvPr/>
          </p:nvCxnSpPr>
          <p:spPr>
            <a:xfrm flipH="1">
              <a:off x="3287688" y="4365104"/>
              <a:ext cx="3672408" cy="0"/>
            </a:xfrm>
            <a:prstGeom prst="straightConnector1">
              <a:avLst/>
            </a:prstGeom>
            <a:ln w="38100"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FAC9706-DF6B-83B0-BC5C-66C5E87D071E}"/>
                </a:ext>
              </a:extLst>
            </p:cNvPr>
            <p:cNvSpPr txBox="1"/>
            <p:nvPr/>
          </p:nvSpPr>
          <p:spPr>
            <a:xfrm>
              <a:off x="6950571" y="4048730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A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B0401B9-6B81-E6EE-A15F-04FFE8FF589F}"/>
                </a:ext>
              </a:extLst>
            </p:cNvPr>
            <p:cNvSpPr txBox="1"/>
            <p:nvPr/>
          </p:nvSpPr>
          <p:spPr>
            <a:xfrm>
              <a:off x="3062139" y="4172555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A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8D3EA72-AF64-9C9A-3613-007752F5843E}"/>
              </a:ext>
            </a:extLst>
          </p:cNvPr>
          <p:cNvSpPr txBox="1"/>
          <p:nvPr/>
        </p:nvSpPr>
        <p:spPr>
          <a:xfrm>
            <a:off x="7631782" y="1660799"/>
            <a:ext cx="2792046" cy="49244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 err="1"/>
              <a:t>rRNA</a:t>
            </a:r>
            <a:r>
              <a:rPr lang="en-GB" sz="2000" dirty="0"/>
              <a:t> depleted mRNA</a:t>
            </a:r>
          </a:p>
          <a:p>
            <a:endParaRPr lang="en-GB" sz="800" dirty="0"/>
          </a:p>
          <a:p>
            <a:r>
              <a:rPr lang="en-GB" sz="2000" dirty="0"/>
              <a:t>Fragment</a:t>
            </a:r>
          </a:p>
          <a:p>
            <a:endParaRPr lang="en-GB" sz="1400" dirty="0"/>
          </a:p>
          <a:p>
            <a:r>
              <a:rPr lang="en-GB" sz="2000" dirty="0"/>
              <a:t>Random prime + RT</a:t>
            </a:r>
          </a:p>
          <a:p>
            <a:endParaRPr lang="en-GB" sz="2800" dirty="0"/>
          </a:p>
          <a:p>
            <a:r>
              <a:rPr lang="en-GB" sz="2000" dirty="0"/>
              <a:t>2</a:t>
            </a:r>
            <a:r>
              <a:rPr lang="en-GB" sz="2000" baseline="30000" dirty="0"/>
              <a:t>nd</a:t>
            </a:r>
            <a:r>
              <a:rPr lang="en-GB" sz="2000" dirty="0"/>
              <a:t> strand synthesis (+ U)</a:t>
            </a:r>
          </a:p>
          <a:p>
            <a:endParaRPr lang="en-GB" sz="2800" dirty="0"/>
          </a:p>
          <a:p>
            <a:r>
              <a:rPr lang="en-GB" sz="2000" dirty="0"/>
              <a:t>A-tailing</a:t>
            </a:r>
          </a:p>
          <a:p>
            <a:endParaRPr lang="en-GB" sz="2800" dirty="0"/>
          </a:p>
          <a:p>
            <a:r>
              <a:rPr lang="en-GB" sz="2000" dirty="0"/>
              <a:t>Adapter Ligation</a:t>
            </a:r>
          </a:p>
          <a:p>
            <a:endParaRPr lang="en-GB" sz="2800" dirty="0"/>
          </a:p>
          <a:p>
            <a:r>
              <a:rPr lang="en-GB" sz="2000" dirty="0"/>
              <a:t>(U strand degradation)</a:t>
            </a:r>
          </a:p>
          <a:p>
            <a:endParaRPr lang="en-GB" sz="2000" dirty="0"/>
          </a:p>
          <a:p>
            <a:r>
              <a:rPr lang="en-GB" sz="2000" dirty="0"/>
              <a:t>Sequencing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1AFDF2-2773-C076-2310-DC1115E28B58}"/>
              </a:ext>
            </a:extLst>
          </p:cNvPr>
          <p:cNvCxnSpPr/>
          <p:nvPr/>
        </p:nvCxnSpPr>
        <p:spPr>
          <a:xfrm>
            <a:off x="3215680" y="1844824"/>
            <a:ext cx="374441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A70C9D9-7A30-6409-4241-2665F10CE39A}"/>
              </a:ext>
            </a:extLst>
          </p:cNvPr>
          <p:cNvGrpSpPr/>
          <p:nvPr/>
        </p:nvGrpSpPr>
        <p:grpSpPr>
          <a:xfrm>
            <a:off x="3215680" y="2276872"/>
            <a:ext cx="3727648" cy="0"/>
            <a:chOff x="3215680" y="2276872"/>
            <a:chExt cx="3727648" cy="0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E152580-9B39-6C67-4828-B50860A9B568}"/>
                </a:ext>
              </a:extLst>
            </p:cNvPr>
            <p:cNvCxnSpPr/>
            <p:nvPr/>
          </p:nvCxnSpPr>
          <p:spPr>
            <a:xfrm>
              <a:off x="3215680" y="2276872"/>
              <a:ext cx="495672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93665BA-3C41-9212-BE28-70CFE069CAB3}"/>
                </a:ext>
              </a:extLst>
            </p:cNvPr>
            <p:cNvCxnSpPr/>
            <p:nvPr/>
          </p:nvCxnSpPr>
          <p:spPr>
            <a:xfrm>
              <a:off x="3863752" y="2276872"/>
              <a:ext cx="495672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4C19054-8EF2-21AC-CDFB-AE73A4D4BAF1}"/>
                </a:ext>
              </a:extLst>
            </p:cNvPr>
            <p:cNvCxnSpPr/>
            <p:nvPr/>
          </p:nvCxnSpPr>
          <p:spPr>
            <a:xfrm>
              <a:off x="4511824" y="2276872"/>
              <a:ext cx="495672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30A03B3-706F-7595-E41A-1DE8A01076E1}"/>
                </a:ext>
              </a:extLst>
            </p:cNvPr>
            <p:cNvCxnSpPr/>
            <p:nvPr/>
          </p:nvCxnSpPr>
          <p:spPr>
            <a:xfrm>
              <a:off x="5159896" y="2276872"/>
              <a:ext cx="495672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3FDA4FF-48D5-4E24-E610-8FA67232F170}"/>
                </a:ext>
              </a:extLst>
            </p:cNvPr>
            <p:cNvCxnSpPr/>
            <p:nvPr/>
          </p:nvCxnSpPr>
          <p:spPr>
            <a:xfrm>
              <a:off x="5807968" y="2276872"/>
              <a:ext cx="495672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11E8DB2-EBAE-237E-F24D-5403EBC84B82}"/>
                </a:ext>
              </a:extLst>
            </p:cNvPr>
            <p:cNvCxnSpPr/>
            <p:nvPr/>
          </p:nvCxnSpPr>
          <p:spPr>
            <a:xfrm>
              <a:off x="6447656" y="2276872"/>
              <a:ext cx="495672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DFD864A-1441-F5C9-ED7E-A680FA6CCFA5}"/>
              </a:ext>
            </a:extLst>
          </p:cNvPr>
          <p:cNvGrpSpPr/>
          <p:nvPr/>
        </p:nvGrpSpPr>
        <p:grpSpPr>
          <a:xfrm>
            <a:off x="3215680" y="2762037"/>
            <a:ext cx="3744416" cy="388223"/>
            <a:chOff x="3215680" y="2762037"/>
            <a:chExt cx="3744416" cy="388223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4CBF870-F94E-DDAE-CB2E-D56BEC5ABF65}"/>
                </a:ext>
              </a:extLst>
            </p:cNvPr>
            <p:cNvCxnSpPr/>
            <p:nvPr/>
          </p:nvCxnSpPr>
          <p:spPr>
            <a:xfrm>
              <a:off x="3215680" y="2762037"/>
              <a:ext cx="3744416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C1EA018-34F1-3BB0-F1FF-DAE5D3373880}"/>
                </a:ext>
              </a:extLst>
            </p:cNvPr>
            <p:cNvSpPr txBox="1"/>
            <p:nvPr/>
          </p:nvSpPr>
          <p:spPr>
            <a:xfrm>
              <a:off x="6078531" y="2780928"/>
              <a:ext cx="7809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NNNN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7C40150-C7C0-F6FC-C758-4E5A645C7F4B}"/>
                </a:ext>
              </a:extLst>
            </p:cNvPr>
            <p:cNvCxnSpPr/>
            <p:nvPr/>
          </p:nvCxnSpPr>
          <p:spPr>
            <a:xfrm flipH="1">
              <a:off x="3215680" y="2929478"/>
              <a:ext cx="2880320" cy="0"/>
            </a:xfrm>
            <a:prstGeom prst="straightConnector1">
              <a:avLst/>
            </a:prstGeom>
            <a:ln w="38100"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DC98D71-5A22-63D1-3284-45B0382B2B0C}"/>
              </a:ext>
            </a:extLst>
          </p:cNvPr>
          <p:cNvGrpSpPr/>
          <p:nvPr/>
        </p:nvGrpSpPr>
        <p:grpSpPr>
          <a:xfrm>
            <a:off x="3287688" y="3443283"/>
            <a:ext cx="3744416" cy="129733"/>
            <a:chOff x="3287688" y="3443283"/>
            <a:chExt cx="3744416" cy="12973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A6D6922-CCD0-3B55-BABF-DC2FD9C6335A}"/>
                </a:ext>
              </a:extLst>
            </p:cNvPr>
            <p:cNvCxnSpPr/>
            <p:nvPr/>
          </p:nvCxnSpPr>
          <p:spPr>
            <a:xfrm>
              <a:off x="3287688" y="3443283"/>
              <a:ext cx="3744416" cy="0"/>
            </a:xfrm>
            <a:prstGeom prst="straightConnector1">
              <a:avLst/>
            </a:prstGeom>
            <a:ln w="38100"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DE6234D-FC03-5C86-DD55-A886640B8C30}"/>
                </a:ext>
              </a:extLst>
            </p:cNvPr>
            <p:cNvCxnSpPr/>
            <p:nvPr/>
          </p:nvCxnSpPr>
          <p:spPr>
            <a:xfrm flipH="1">
              <a:off x="3287688" y="3573016"/>
              <a:ext cx="3672408" cy="0"/>
            </a:xfrm>
            <a:prstGeom prst="straightConnector1">
              <a:avLst/>
            </a:prstGeom>
            <a:ln w="38100"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B1882A5-F3B4-2713-2AF4-BED03E0D4D46}"/>
              </a:ext>
            </a:extLst>
          </p:cNvPr>
          <p:cNvGrpSpPr/>
          <p:nvPr/>
        </p:nvGrpSpPr>
        <p:grpSpPr>
          <a:xfrm>
            <a:off x="3575720" y="3127974"/>
            <a:ext cx="2448272" cy="378857"/>
            <a:chOff x="3575720" y="3175109"/>
            <a:chExt cx="2448272" cy="378857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454A779-83C6-0C57-6D82-DF1C2B9B3665}"/>
                </a:ext>
              </a:extLst>
            </p:cNvPr>
            <p:cNvSpPr txBox="1"/>
            <p:nvPr/>
          </p:nvSpPr>
          <p:spPr>
            <a:xfrm>
              <a:off x="3575720" y="3175109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u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8BEB0E5-7F4A-1736-87D8-428D702EA7C9}"/>
                </a:ext>
              </a:extLst>
            </p:cNvPr>
            <p:cNvSpPr txBox="1"/>
            <p:nvPr/>
          </p:nvSpPr>
          <p:spPr>
            <a:xfrm>
              <a:off x="4151784" y="31790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u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46637E0-0635-FBB2-1EC6-F2C309271383}"/>
                </a:ext>
              </a:extLst>
            </p:cNvPr>
            <p:cNvSpPr txBox="1"/>
            <p:nvPr/>
          </p:nvSpPr>
          <p:spPr>
            <a:xfrm>
              <a:off x="4727848" y="3184634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u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C240DA-10DA-AEA0-1962-969AA90627CD}"/>
                </a:ext>
              </a:extLst>
            </p:cNvPr>
            <p:cNvSpPr txBox="1"/>
            <p:nvPr/>
          </p:nvSpPr>
          <p:spPr>
            <a:xfrm>
              <a:off x="5717498" y="31790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u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AA28CB3-B267-80B0-C24D-A7788EF7F920}"/>
              </a:ext>
            </a:extLst>
          </p:cNvPr>
          <p:cNvGrpSpPr/>
          <p:nvPr/>
        </p:nvGrpSpPr>
        <p:grpSpPr>
          <a:xfrm>
            <a:off x="3575720" y="3910635"/>
            <a:ext cx="2448272" cy="378857"/>
            <a:chOff x="3575720" y="3967197"/>
            <a:chExt cx="2448272" cy="37885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78602B5-B6B9-EFCB-3FC0-61C0A1C9B114}"/>
                </a:ext>
              </a:extLst>
            </p:cNvPr>
            <p:cNvSpPr txBox="1"/>
            <p:nvPr/>
          </p:nvSpPr>
          <p:spPr>
            <a:xfrm>
              <a:off x="3575720" y="3967197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u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8BA2D53-F9A2-4F57-E30C-C872135B52C7}"/>
                </a:ext>
              </a:extLst>
            </p:cNvPr>
            <p:cNvSpPr txBox="1"/>
            <p:nvPr/>
          </p:nvSpPr>
          <p:spPr>
            <a:xfrm>
              <a:off x="4151784" y="397115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u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2779C74-D9EC-0A0F-BEEE-DA7061B63399}"/>
                </a:ext>
              </a:extLst>
            </p:cNvPr>
            <p:cNvSpPr txBox="1"/>
            <p:nvPr/>
          </p:nvSpPr>
          <p:spPr>
            <a:xfrm>
              <a:off x="4727848" y="397672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u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6145AF7-DFAD-417D-4A78-C8249F1A8C8F}"/>
                </a:ext>
              </a:extLst>
            </p:cNvPr>
            <p:cNvSpPr txBox="1"/>
            <p:nvPr/>
          </p:nvSpPr>
          <p:spPr>
            <a:xfrm>
              <a:off x="5717498" y="397115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u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E000CFD-FE22-9965-704A-230C214C0151}"/>
              </a:ext>
            </a:extLst>
          </p:cNvPr>
          <p:cNvGrpSpPr/>
          <p:nvPr/>
        </p:nvGrpSpPr>
        <p:grpSpPr>
          <a:xfrm>
            <a:off x="3585245" y="4606001"/>
            <a:ext cx="2448272" cy="378857"/>
            <a:chOff x="3585245" y="4653136"/>
            <a:chExt cx="2448272" cy="378857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FE4AAF8-D102-366A-CDC9-463269CEDCF7}"/>
                </a:ext>
              </a:extLst>
            </p:cNvPr>
            <p:cNvSpPr txBox="1"/>
            <p:nvPr/>
          </p:nvSpPr>
          <p:spPr>
            <a:xfrm>
              <a:off x="3585245" y="465313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u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8D3524F-26FC-E26D-620B-C1C2ABFF53C1}"/>
                </a:ext>
              </a:extLst>
            </p:cNvPr>
            <p:cNvSpPr txBox="1"/>
            <p:nvPr/>
          </p:nvSpPr>
          <p:spPr>
            <a:xfrm>
              <a:off x="4161309" y="4657095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u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3338503-41E4-58B7-7C24-F339E2B9DB6F}"/>
                </a:ext>
              </a:extLst>
            </p:cNvPr>
            <p:cNvSpPr txBox="1"/>
            <p:nvPr/>
          </p:nvSpPr>
          <p:spPr>
            <a:xfrm>
              <a:off x="4737373" y="4662661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u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9373F1A-68B8-85A8-E0E5-D59239080910}"/>
                </a:ext>
              </a:extLst>
            </p:cNvPr>
            <p:cNvSpPr txBox="1"/>
            <p:nvPr/>
          </p:nvSpPr>
          <p:spPr>
            <a:xfrm>
              <a:off x="5727023" y="4657095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u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435268E-5920-D1F2-B7E7-4025BA898359}"/>
              </a:ext>
            </a:extLst>
          </p:cNvPr>
          <p:cNvGrpSpPr/>
          <p:nvPr/>
        </p:nvGrpSpPr>
        <p:grpSpPr>
          <a:xfrm>
            <a:off x="2711625" y="4680334"/>
            <a:ext cx="4881685" cy="601827"/>
            <a:chOff x="2711625" y="4680334"/>
            <a:chExt cx="4881685" cy="60182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21133FD7-7A28-93C1-0351-FF30484409A9}"/>
                </a:ext>
              </a:extLst>
            </p:cNvPr>
            <p:cNvGrpSpPr/>
            <p:nvPr/>
          </p:nvGrpSpPr>
          <p:grpSpPr>
            <a:xfrm>
              <a:off x="2711625" y="4680334"/>
              <a:ext cx="4881685" cy="601827"/>
              <a:chOff x="2711625" y="4680334"/>
              <a:chExt cx="4881685" cy="601827"/>
            </a:xfrm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18F4B6F1-3E52-35CA-5B8A-C11605EE0D24}"/>
                  </a:ext>
                </a:extLst>
              </p:cNvPr>
              <p:cNvCxnSpPr/>
              <p:nvPr/>
            </p:nvCxnSpPr>
            <p:spPr>
              <a:xfrm>
                <a:off x="3297213" y="4921310"/>
                <a:ext cx="3744416" cy="0"/>
              </a:xfrm>
              <a:prstGeom prst="straightConnector1">
                <a:avLst/>
              </a:prstGeom>
              <a:ln w="38100">
                <a:solidFill>
                  <a:schemeClr val="tx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4ED0C591-47EB-6945-1C67-78CC99AF3887}"/>
                  </a:ext>
                </a:extLst>
              </p:cNvPr>
              <p:cNvCxnSpPr/>
              <p:nvPr/>
            </p:nvCxnSpPr>
            <p:spPr>
              <a:xfrm flipH="1">
                <a:off x="3297213" y="5051043"/>
                <a:ext cx="3672408" cy="0"/>
              </a:xfrm>
              <a:prstGeom prst="straightConnector1">
                <a:avLst/>
              </a:prstGeom>
              <a:ln w="38100">
                <a:solidFill>
                  <a:schemeClr val="tx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2970558-C078-8A77-9BEB-9AF44302483B}"/>
                  </a:ext>
                </a:extLst>
              </p:cNvPr>
              <p:cNvSpPr txBox="1"/>
              <p:nvPr/>
            </p:nvSpPr>
            <p:spPr>
              <a:xfrm>
                <a:off x="6960096" y="4734669"/>
                <a:ext cx="317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A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D1921E4-CB44-EBE7-5268-D4B80265A654}"/>
                  </a:ext>
                </a:extLst>
              </p:cNvPr>
              <p:cNvSpPr txBox="1"/>
              <p:nvPr/>
            </p:nvSpPr>
            <p:spPr>
              <a:xfrm>
                <a:off x="3071664" y="4858494"/>
                <a:ext cx="317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A</a:t>
                </a:r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50BA2416-F71A-62D0-E420-7C1F98BE7A8B}"/>
                  </a:ext>
                </a:extLst>
              </p:cNvPr>
              <p:cNvCxnSpPr/>
              <p:nvPr/>
            </p:nvCxnSpPr>
            <p:spPr>
              <a:xfrm>
                <a:off x="2711625" y="4680335"/>
                <a:ext cx="216024" cy="186641"/>
              </a:xfrm>
              <a:prstGeom prst="line">
                <a:avLst/>
              </a:prstGeom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7917A6B-CF37-BE66-5585-11DE98F20495}"/>
                  </a:ext>
                </a:extLst>
              </p:cNvPr>
              <p:cNvSpPr txBox="1"/>
              <p:nvPr/>
            </p:nvSpPr>
            <p:spPr>
              <a:xfrm>
                <a:off x="3078807" y="4680334"/>
                <a:ext cx="2968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T</a:t>
                </a:r>
              </a:p>
            </p:txBody>
          </p: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F9F2FDE-3181-2418-F2C1-499B9485DED3}"/>
                  </a:ext>
                </a:extLst>
              </p:cNvPr>
              <p:cNvCxnSpPr/>
              <p:nvPr/>
            </p:nvCxnSpPr>
            <p:spPr>
              <a:xfrm flipV="1">
                <a:off x="2711625" y="5041186"/>
                <a:ext cx="216024" cy="186641"/>
              </a:xfrm>
              <a:prstGeom prst="line">
                <a:avLst/>
              </a:prstGeom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B0C88C00-42F7-839C-C16D-0BB5BAC8929A}"/>
                  </a:ext>
                </a:extLst>
              </p:cNvPr>
              <p:cNvGrpSpPr/>
              <p:nvPr/>
            </p:nvGrpSpPr>
            <p:grpSpPr>
              <a:xfrm flipH="1">
                <a:off x="7176121" y="4734669"/>
                <a:ext cx="417189" cy="186641"/>
                <a:chOff x="755576" y="4664035"/>
                <a:chExt cx="417189" cy="186641"/>
              </a:xfrm>
            </p:grpSpPr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01658219-3AE3-F510-78D9-C9B27977F5ED}"/>
                    </a:ext>
                  </a:extLst>
                </p:cNvPr>
                <p:cNvCxnSpPr/>
                <p:nvPr/>
              </p:nvCxnSpPr>
              <p:spPr>
                <a:xfrm>
                  <a:off x="755576" y="4664035"/>
                  <a:ext cx="216024" cy="186641"/>
                </a:xfrm>
                <a:prstGeom prst="line">
                  <a:avLst/>
                </a:prstGeom>
                <a:ln w="38100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D479F96E-CA7E-D111-3B90-C82D8504EDFC}"/>
                    </a:ext>
                  </a:extLst>
                </p:cNvPr>
                <p:cNvCxnSpPr/>
                <p:nvPr/>
              </p:nvCxnSpPr>
              <p:spPr>
                <a:xfrm>
                  <a:off x="956741" y="4847203"/>
                  <a:ext cx="216024" cy="0"/>
                </a:xfrm>
                <a:prstGeom prst="line">
                  <a:avLst/>
                </a:prstGeom>
                <a:ln w="38100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97D3A8C7-A61A-4ED9-539B-65FB0E7A98B5}"/>
                  </a:ext>
                </a:extLst>
              </p:cNvPr>
              <p:cNvGrpSpPr/>
              <p:nvPr/>
            </p:nvGrpSpPr>
            <p:grpSpPr>
              <a:xfrm flipH="1" flipV="1">
                <a:off x="7176121" y="5095520"/>
                <a:ext cx="417189" cy="186641"/>
                <a:chOff x="755576" y="4664035"/>
                <a:chExt cx="417189" cy="186641"/>
              </a:xfrm>
            </p:grpSpPr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D2BF2DCA-3F43-3F43-92AE-210F699A7A2B}"/>
                    </a:ext>
                  </a:extLst>
                </p:cNvPr>
                <p:cNvCxnSpPr/>
                <p:nvPr/>
              </p:nvCxnSpPr>
              <p:spPr>
                <a:xfrm>
                  <a:off x="755576" y="4664035"/>
                  <a:ext cx="216024" cy="186641"/>
                </a:xfrm>
                <a:prstGeom prst="line">
                  <a:avLst/>
                </a:prstGeom>
                <a:ln w="38100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DADAB047-ECC5-4169-BF88-D5B64C92D9DF}"/>
                    </a:ext>
                  </a:extLst>
                </p:cNvPr>
                <p:cNvCxnSpPr/>
                <p:nvPr/>
              </p:nvCxnSpPr>
              <p:spPr>
                <a:xfrm>
                  <a:off x="956741" y="4847203"/>
                  <a:ext cx="216024" cy="0"/>
                </a:xfrm>
                <a:prstGeom prst="line">
                  <a:avLst/>
                </a:prstGeom>
                <a:ln w="38100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AB865AF-6884-454B-E781-D4DDF7B57076}"/>
                  </a:ext>
                </a:extLst>
              </p:cNvPr>
              <p:cNvSpPr txBox="1"/>
              <p:nvPr/>
            </p:nvSpPr>
            <p:spPr>
              <a:xfrm>
                <a:off x="6967919" y="4911222"/>
                <a:ext cx="2968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T</a:t>
                </a:r>
              </a:p>
            </p:txBody>
          </p:sp>
        </p:grp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2AF237D-FD03-AF97-3687-DEFD223ECDCF}"/>
                </a:ext>
              </a:extLst>
            </p:cNvPr>
            <p:cNvCxnSpPr/>
            <p:nvPr/>
          </p:nvCxnSpPr>
          <p:spPr>
            <a:xfrm>
              <a:off x="2912790" y="4863503"/>
              <a:ext cx="216024" cy="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917791B-3C9D-A099-2D3C-1A967439A3AD}"/>
                </a:ext>
              </a:extLst>
            </p:cNvPr>
            <p:cNvCxnSpPr/>
            <p:nvPr/>
          </p:nvCxnSpPr>
          <p:spPr>
            <a:xfrm flipV="1">
              <a:off x="2912790" y="5044659"/>
              <a:ext cx="216024" cy="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935DB30-37D2-F549-CAA7-6723511E8A8E}"/>
              </a:ext>
            </a:extLst>
          </p:cNvPr>
          <p:cNvGrpSpPr/>
          <p:nvPr/>
        </p:nvGrpSpPr>
        <p:grpSpPr>
          <a:xfrm>
            <a:off x="2711625" y="5498056"/>
            <a:ext cx="4894385" cy="379217"/>
            <a:chOff x="1202483" y="5453605"/>
            <a:chExt cx="4894385" cy="379217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CE983FE1-E7A1-1A93-EBB2-C799A690DB46}"/>
                </a:ext>
              </a:extLst>
            </p:cNvPr>
            <p:cNvCxnSpPr/>
            <p:nvPr/>
          </p:nvCxnSpPr>
          <p:spPr>
            <a:xfrm flipH="1">
              <a:off x="1788072" y="5646154"/>
              <a:ext cx="3672408" cy="0"/>
            </a:xfrm>
            <a:prstGeom prst="straightConnector1">
              <a:avLst/>
            </a:prstGeom>
            <a:ln w="38100"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4D54D49-123A-0BE2-83CE-CB64810FBDE8}"/>
                </a:ext>
              </a:extLst>
            </p:cNvPr>
            <p:cNvSpPr txBox="1"/>
            <p:nvPr/>
          </p:nvSpPr>
          <p:spPr>
            <a:xfrm>
              <a:off x="1562523" y="5453605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A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D1603A6D-02E9-0617-8573-223FE4728FB5}"/>
                </a:ext>
              </a:extLst>
            </p:cNvPr>
            <p:cNvGrpSpPr/>
            <p:nvPr/>
          </p:nvGrpSpPr>
          <p:grpSpPr>
            <a:xfrm flipV="1">
              <a:off x="1202483" y="5636296"/>
              <a:ext cx="417189" cy="186641"/>
              <a:chOff x="755576" y="4664035"/>
              <a:chExt cx="417189" cy="186641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2BEA6A21-40AC-3BB6-F062-1E140A954C91}"/>
                  </a:ext>
                </a:extLst>
              </p:cNvPr>
              <p:cNvCxnSpPr/>
              <p:nvPr/>
            </p:nvCxnSpPr>
            <p:spPr>
              <a:xfrm>
                <a:off x="755576" y="4664035"/>
                <a:ext cx="216024" cy="186641"/>
              </a:xfrm>
              <a:prstGeom prst="line">
                <a:avLst/>
              </a:prstGeom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94DFAB5F-4309-2ECD-90FF-B82E260EE570}"/>
                  </a:ext>
                </a:extLst>
              </p:cNvPr>
              <p:cNvCxnSpPr/>
              <p:nvPr/>
            </p:nvCxnSpPr>
            <p:spPr>
              <a:xfrm>
                <a:off x="956741" y="4847203"/>
                <a:ext cx="216024" cy="0"/>
              </a:xfrm>
              <a:prstGeom prst="line">
                <a:avLst/>
              </a:prstGeom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C07C3FD0-DEAE-5EAA-2146-5EDD2CA9DAEF}"/>
                </a:ext>
              </a:extLst>
            </p:cNvPr>
            <p:cNvGrpSpPr/>
            <p:nvPr/>
          </p:nvGrpSpPr>
          <p:grpSpPr>
            <a:xfrm flipH="1" flipV="1">
              <a:off x="5679679" y="5646181"/>
              <a:ext cx="417189" cy="186641"/>
              <a:chOff x="755576" y="4664035"/>
              <a:chExt cx="417189" cy="186641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92FC8CA0-C1B7-8FD8-2301-183C5BA96E7E}"/>
                  </a:ext>
                </a:extLst>
              </p:cNvPr>
              <p:cNvCxnSpPr/>
              <p:nvPr/>
            </p:nvCxnSpPr>
            <p:spPr>
              <a:xfrm>
                <a:off x="755576" y="4664035"/>
                <a:ext cx="216024" cy="186641"/>
              </a:xfrm>
              <a:prstGeom prst="line">
                <a:avLst/>
              </a:prstGeom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F157499B-1368-D051-F30C-FA3CE81D6A10}"/>
                  </a:ext>
                </a:extLst>
              </p:cNvPr>
              <p:cNvCxnSpPr/>
              <p:nvPr/>
            </p:nvCxnSpPr>
            <p:spPr>
              <a:xfrm>
                <a:off x="956741" y="4847203"/>
                <a:ext cx="216024" cy="0"/>
              </a:xfrm>
              <a:prstGeom prst="line">
                <a:avLst/>
              </a:prstGeom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40135AE-AC7F-3962-A769-9E0F01485F3F}"/>
                </a:ext>
              </a:extLst>
            </p:cNvPr>
            <p:cNvSpPr txBox="1"/>
            <p:nvPr/>
          </p:nvSpPr>
          <p:spPr>
            <a:xfrm>
              <a:off x="5439728" y="5461883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T</a:t>
              </a: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1F204D13-5832-76D3-D2BD-0E22CBE9CBD4}"/>
              </a:ext>
            </a:extLst>
          </p:cNvPr>
          <p:cNvSpPr txBox="1"/>
          <p:nvPr/>
        </p:nvSpPr>
        <p:spPr>
          <a:xfrm>
            <a:off x="612743" y="593888"/>
            <a:ext cx="411510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Stranded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 RNA-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seq</a:t>
            </a:r>
            <a:endParaRPr lang="es-ES" sz="2800" b="1" dirty="0">
              <a:solidFill>
                <a:schemeClr val="tx2">
                  <a:lumMod val="50000"/>
                </a:schemeClr>
              </a:solidFill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4526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49221-AC4D-C508-8AEC-BB7512244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B5775E-DE67-4E27-4B96-819B6072BB1A}"/>
              </a:ext>
            </a:extLst>
          </p:cNvPr>
          <p:cNvSpPr txBox="1"/>
          <p:nvPr/>
        </p:nvSpPr>
        <p:spPr>
          <a:xfrm>
            <a:off x="2860911" y="2782669"/>
            <a:ext cx="647017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dirty="0" err="1"/>
              <a:t>Introduction</a:t>
            </a:r>
            <a:r>
              <a:rPr lang="es-ES" sz="5400" dirty="0"/>
              <a:t> </a:t>
            </a:r>
            <a:r>
              <a:rPr lang="es-ES" sz="5400" dirty="0" err="1"/>
              <a:t>to</a:t>
            </a:r>
            <a:r>
              <a:rPr lang="es-ES" sz="5400" dirty="0"/>
              <a:t> Linux</a:t>
            </a:r>
          </a:p>
          <a:p>
            <a:pPr algn="ctr"/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920031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88371" y="1973473"/>
            <a:ext cx="1067831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user@server</a:t>
            </a:r>
            <a:r>
              <a:rPr lang="en-GB" sz="24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:~$ </a:t>
            </a:r>
            <a:r>
              <a:rPr lang="en-GB" sz="2400" b="1" dirty="0">
                <a:latin typeface="Consolas" panose="020B0609020204030204" pitchFamily="49" charset="0"/>
                <a:cs typeface="Courier New" panose="02070309020205020404" pitchFamily="49" charset="0"/>
              </a:rPr>
              <a:t>ls</a:t>
            </a:r>
          </a:p>
          <a:p>
            <a:r>
              <a:rPr lang="en-GB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01_reads  02_reference  03_hisat2  04_featureCounts  05_deseq2  06_GSEA  cheat_sheet.md  deseq2_env.yml  </a:t>
            </a:r>
            <a:r>
              <a:rPr lang="en-GB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rnaseq_env.yml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en-GB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GB" sz="24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user@server</a:t>
            </a:r>
            <a:r>
              <a:rPr lang="en-GB" sz="24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:~$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888371" y="4495494"/>
            <a:ext cx="7062032" cy="369332"/>
            <a:chOff x="1491916" y="4824481"/>
            <a:chExt cx="7062032" cy="369332"/>
          </a:xfrm>
        </p:grpSpPr>
        <p:sp>
          <p:nvSpPr>
            <p:cNvPr id="5" name="Rectangle 4"/>
            <p:cNvSpPr/>
            <p:nvPr/>
          </p:nvSpPr>
          <p:spPr>
            <a:xfrm>
              <a:off x="1491916" y="4900863"/>
              <a:ext cx="216568" cy="2165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708484" y="4824481"/>
              <a:ext cx="6845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Command prompt - you can't enter a command unless you can see this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888371" y="4941208"/>
            <a:ext cx="6132034" cy="369332"/>
            <a:chOff x="1491916" y="4824481"/>
            <a:chExt cx="6132034" cy="369332"/>
          </a:xfrm>
        </p:grpSpPr>
        <p:sp>
          <p:nvSpPr>
            <p:cNvPr id="9" name="Rectangle 8"/>
            <p:cNvSpPr/>
            <p:nvPr/>
          </p:nvSpPr>
          <p:spPr>
            <a:xfrm>
              <a:off x="1491916" y="4900863"/>
              <a:ext cx="216568" cy="21656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708484" y="4824481"/>
              <a:ext cx="5915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The command we're going to run (</a:t>
              </a:r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ls</a:t>
              </a:r>
              <a:r>
                <a:rPr lang="en-GB" dirty="0"/>
                <a:t> in this case, to list files)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888371" y="5394943"/>
            <a:ext cx="5070333" cy="369332"/>
            <a:chOff x="1491916" y="4824481"/>
            <a:chExt cx="5070333" cy="369332"/>
          </a:xfrm>
        </p:grpSpPr>
        <p:sp>
          <p:nvSpPr>
            <p:cNvPr id="12" name="Rectangle 11"/>
            <p:cNvSpPr/>
            <p:nvPr/>
          </p:nvSpPr>
          <p:spPr>
            <a:xfrm>
              <a:off x="1491916" y="4900863"/>
              <a:ext cx="216568" cy="21656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08484" y="4824481"/>
              <a:ext cx="48537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The output of the command - just text in this case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95EDDC2-399E-F9C5-EDCC-900650531C5F}"/>
              </a:ext>
            </a:extLst>
          </p:cNvPr>
          <p:cNvSpPr txBox="1"/>
          <p:nvPr/>
        </p:nvSpPr>
        <p:spPr>
          <a:xfrm>
            <a:off x="524543" y="533301"/>
            <a:ext cx="5956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Terminal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layout</a:t>
            </a:r>
            <a:endParaRPr lang="es-ES" sz="28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167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369BE-F1EC-6465-3329-0EE5878F3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FA26B2-3B90-3B88-6701-08E2CA058A6E}"/>
              </a:ext>
            </a:extLst>
          </p:cNvPr>
          <p:cNvSpPr txBox="1"/>
          <p:nvPr/>
        </p:nvSpPr>
        <p:spPr>
          <a:xfrm>
            <a:off x="372143" y="1041238"/>
            <a:ext cx="9554898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  <a:p>
            <a:pPr algn="ctr"/>
            <a:r>
              <a:rPr lang="es-E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 </a:t>
            </a:r>
            <a:r>
              <a:rPr lang="es-ES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Comments</a:t>
            </a:r>
            <a:r>
              <a:rPr lang="es-E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that</a:t>
            </a:r>
            <a:r>
              <a:rPr lang="es-E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are </a:t>
            </a:r>
            <a:r>
              <a:rPr lang="es-ES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not</a:t>
            </a:r>
            <a:r>
              <a:rPr lang="es-E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executed</a:t>
            </a:r>
            <a:endParaRPr lang="es-E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s-ES" sz="2400" b="1" dirty="0" err="1">
                <a:solidFill>
                  <a:srgbClr val="020D5E"/>
                </a:solidFill>
              </a:rPr>
              <a:t>command</a:t>
            </a:r>
            <a:r>
              <a:rPr lang="es-ES" sz="2400" dirty="0"/>
              <a:t> </a:t>
            </a:r>
            <a:r>
              <a:rPr lang="es-ES" sz="2400" b="1" dirty="0">
                <a:solidFill>
                  <a:srgbClr val="7030A0"/>
                </a:solidFill>
              </a:rPr>
              <a:t>--</a:t>
            </a:r>
            <a:r>
              <a:rPr lang="es-ES" sz="2400" b="1" dirty="0" err="1">
                <a:solidFill>
                  <a:srgbClr val="7030A0"/>
                </a:solidFill>
              </a:rPr>
              <a:t>options</a:t>
            </a:r>
            <a:r>
              <a:rPr lang="es-ES" sz="2400" b="1" dirty="0">
                <a:solidFill>
                  <a:srgbClr val="7030A0"/>
                </a:solidFill>
              </a:rPr>
              <a:t> </a:t>
            </a:r>
            <a:r>
              <a:rPr lang="es-ES" sz="2400" dirty="0"/>
              <a:t>(</a:t>
            </a:r>
            <a:r>
              <a:rPr lang="es-ES" sz="2400" b="1" dirty="0">
                <a:solidFill>
                  <a:srgbClr val="7030A0"/>
                </a:solidFill>
              </a:rPr>
              <a:t>-o</a:t>
            </a:r>
            <a:r>
              <a:rPr lang="es-ES" sz="2400" dirty="0"/>
              <a:t>) </a:t>
            </a:r>
            <a:r>
              <a:rPr lang="es-ES" sz="2400" b="1" dirty="0" err="1">
                <a:solidFill>
                  <a:srgbClr val="C00000"/>
                </a:solidFill>
              </a:rPr>
              <a:t>arguments</a:t>
            </a:r>
            <a:endParaRPr lang="es-ES" sz="2400" b="1" dirty="0">
              <a:solidFill>
                <a:srgbClr val="C00000"/>
              </a:solidFill>
            </a:endParaRP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i="1" dirty="0" err="1"/>
              <a:t>Command</a:t>
            </a:r>
            <a:r>
              <a:rPr lang="es-ES" i="1" dirty="0"/>
              <a:t>/</a:t>
            </a:r>
            <a:r>
              <a:rPr lang="es-ES" i="1" dirty="0" err="1"/>
              <a:t>Program</a:t>
            </a:r>
            <a:r>
              <a:rPr lang="es-ES" i="1" dirty="0"/>
              <a:t> </a:t>
            </a:r>
            <a:r>
              <a:rPr lang="es-ES" i="1" dirty="0" err="1"/>
              <a:t>name</a:t>
            </a:r>
            <a:r>
              <a:rPr lang="es-ES" dirty="0"/>
              <a:t>: </a:t>
            </a:r>
            <a:r>
              <a:rPr lang="es-ES" dirty="0" err="1"/>
              <a:t>instruction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be </a:t>
            </a:r>
            <a:r>
              <a:rPr lang="es-ES" dirty="0" err="1"/>
              <a:t>executed</a:t>
            </a:r>
            <a:r>
              <a:rPr lang="es-E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i="1" dirty="0" err="1"/>
              <a:t>Options</a:t>
            </a:r>
            <a:r>
              <a:rPr lang="es-ES" i="1" dirty="0"/>
              <a:t>/Switches</a:t>
            </a:r>
            <a:r>
              <a:rPr lang="es-ES" dirty="0"/>
              <a:t>: </a:t>
            </a:r>
            <a:r>
              <a:rPr lang="es-ES" dirty="0" err="1"/>
              <a:t>modifiers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command</a:t>
            </a:r>
            <a:r>
              <a:rPr lang="es-ES" dirty="0"/>
              <a:t> </a:t>
            </a:r>
            <a:r>
              <a:rPr lang="es-ES" dirty="0" err="1"/>
              <a:t>behaviour</a:t>
            </a:r>
            <a:r>
              <a:rPr lang="es-E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i="1" dirty="0" err="1"/>
              <a:t>Arguments</a:t>
            </a:r>
            <a:r>
              <a:rPr lang="es-ES" i="1" dirty="0"/>
              <a:t>/Data</a:t>
            </a:r>
            <a:r>
              <a:rPr lang="es-ES" dirty="0"/>
              <a:t>: </a:t>
            </a:r>
            <a:r>
              <a:rPr lang="es-ES" dirty="0" err="1"/>
              <a:t>objects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command</a:t>
            </a:r>
            <a:r>
              <a:rPr lang="es-ES" dirty="0"/>
              <a:t> </a:t>
            </a:r>
            <a:r>
              <a:rPr lang="es-ES" dirty="0" err="1"/>
              <a:t>acts</a:t>
            </a:r>
            <a:r>
              <a:rPr lang="es-ES" dirty="0"/>
              <a:t>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3E4BC7-127E-98F0-0A79-955CDB6503CF}"/>
              </a:ext>
            </a:extLst>
          </p:cNvPr>
          <p:cNvSpPr txBox="1"/>
          <p:nvPr/>
        </p:nvSpPr>
        <p:spPr>
          <a:xfrm>
            <a:off x="372143" y="380901"/>
            <a:ext cx="5956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Structure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of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 Unix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commands</a:t>
            </a:r>
            <a:endParaRPr lang="es-ES" sz="28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F1A792-C1DB-FE6D-CA35-CA1249FC8CA7}"/>
              </a:ext>
            </a:extLst>
          </p:cNvPr>
          <p:cNvSpPr txBox="1"/>
          <p:nvPr/>
        </p:nvSpPr>
        <p:spPr>
          <a:xfrm>
            <a:off x="604133" y="3614777"/>
            <a:ext cx="426265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i="1" dirty="0" err="1"/>
              <a:t>Example</a:t>
            </a:r>
            <a:r>
              <a:rPr lang="es-ES" i="1" dirty="0"/>
              <a:t>:</a:t>
            </a:r>
          </a:p>
          <a:p>
            <a:endParaRPr lang="es-ES" dirty="0"/>
          </a:p>
          <a:p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 Show 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the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first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10 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lines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of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file.</a:t>
            </a:r>
          </a:p>
          <a:p>
            <a:r>
              <a:rPr lang="es-ES" b="1" dirty="0">
                <a:solidFill>
                  <a:srgbClr val="020D5E"/>
                </a:solidFill>
                <a:latin typeface="Consolas" panose="020B0609020204030204" pitchFamily="49" charset="0"/>
              </a:rPr>
              <a:t>head</a:t>
            </a:r>
            <a:r>
              <a:rPr lang="es-ES" dirty="0">
                <a:latin typeface="Consolas" panose="020B0609020204030204" pitchFamily="49" charset="0"/>
              </a:rPr>
              <a:t> </a:t>
            </a:r>
            <a:r>
              <a:rPr lang="es-ES" b="1" dirty="0">
                <a:solidFill>
                  <a:srgbClr val="C00000"/>
                </a:solidFill>
                <a:latin typeface="Consolas" panose="020B0609020204030204" pitchFamily="49" charset="0"/>
              </a:rPr>
              <a:t>my_text.txt</a:t>
            </a:r>
          </a:p>
          <a:p>
            <a:endParaRPr lang="es-ES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 Show 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the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first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100 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lines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of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file.</a:t>
            </a:r>
          </a:p>
          <a:p>
            <a:r>
              <a:rPr lang="es-ES" b="1" dirty="0">
                <a:solidFill>
                  <a:srgbClr val="020D5E"/>
                </a:solidFill>
                <a:latin typeface="Consolas" panose="020B0609020204030204" pitchFamily="49" charset="0"/>
              </a:rPr>
              <a:t>head</a:t>
            </a:r>
            <a:r>
              <a:rPr lang="es-ES" dirty="0">
                <a:solidFill>
                  <a:srgbClr val="020D5E"/>
                </a:solidFill>
                <a:latin typeface="Consolas" panose="020B0609020204030204" pitchFamily="49" charset="0"/>
              </a:rPr>
              <a:t> </a:t>
            </a:r>
            <a:r>
              <a:rPr lang="es-ES" b="1" dirty="0">
                <a:solidFill>
                  <a:srgbClr val="7030A0"/>
                </a:solidFill>
                <a:latin typeface="Consolas" panose="020B0609020204030204" pitchFamily="49" charset="0"/>
              </a:rPr>
              <a:t>--</a:t>
            </a:r>
            <a:r>
              <a:rPr lang="es-ES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lines</a:t>
            </a:r>
            <a:r>
              <a:rPr lang="es-ES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s-ES" dirty="0">
                <a:latin typeface="Consolas" panose="020B0609020204030204" pitchFamily="49" charset="0"/>
              </a:rPr>
              <a:t>100 </a:t>
            </a:r>
            <a:r>
              <a:rPr lang="es-ES" b="1" dirty="0">
                <a:solidFill>
                  <a:srgbClr val="C00000"/>
                </a:solidFill>
                <a:latin typeface="Consolas" panose="020B0609020204030204" pitchFamily="49" charset="0"/>
              </a:rPr>
              <a:t>my_text.txt</a:t>
            </a:r>
          </a:p>
          <a:p>
            <a:endParaRPr lang="es-ES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 Show 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the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first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100 line 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of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file</a:t>
            </a:r>
          </a:p>
          <a:p>
            <a:r>
              <a:rPr lang="es-ES" b="1" dirty="0">
                <a:solidFill>
                  <a:srgbClr val="020D5E"/>
                </a:solidFill>
                <a:latin typeface="Consolas" panose="020B0609020204030204" pitchFamily="49" charset="0"/>
              </a:rPr>
              <a:t>head</a:t>
            </a:r>
            <a:r>
              <a:rPr lang="es-ES" dirty="0">
                <a:latin typeface="Consolas" panose="020B0609020204030204" pitchFamily="49" charset="0"/>
              </a:rPr>
              <a:t> </a:t>
            </a:r>
            <a:r>
              <a:rPr lang="es-ES" b="1" dirty="0">
                <a:solidFill>
                  <a:srgbClr val="7030A0"/>
                </a:solidFill>
                <a:latin typeface="Consolas" panose="020B0609020204030204" pitchFamily="49" charset="0"/>
              </a:rPr>
              <a:t>-n </a:t>
            </a:r>
            <a:r>
              <a:rPr lang="es-ES" dirty="0">
                <a:latin typeface="Consolas" panose="020B0609020204030204" pitchFamily="49" charset="0"/>
              </a:rPr>
              <a:t>100 </a:t>
            </a:r>
            <a:r>
              <a:rPr lang="es-ES" b="1" dirty="0">
                <a:solidFill>
                  <a:srgbClr val="C00000"/>
                </a:solidFill>
                <a:latin typeface="Consolas" panose="020B0609020204030204" pitchFamily="49" charset="0"/>
              </a:rPr>
              <a:t>my_text.txt</a:t>
            </a:r>
          </a:p>
        </p:txBody>
      </p:sp>
    </p:spTree>
    <p:extLst>
      <p:ext uri="{BB962C8B-B14F-4D97-AF65-F5344CB8AC3E}">
        <p14:creationId xmlns:p14="http://schemas.microsoft.com/office/powerpoint/2010/main" val="1575612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471CA2-8926-2605-53EB-417AF80703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51" t="26901" r="19551" b="26901"/>
          <a:stretch/>
        </p:blipFill>
        <p:spPr>
          <a:xfrm>
            <a:off x="7333691" y="1057315"/>
            <a:ext cx="390378" cy="2961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E6A390-4F19-4754-EF1D-67BF59515F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51" t="26901" r="19551" b="26901"/>
          <a:stretch/>
        </p:blipFill>
        <p:spPr>
          <a:xfrm>
            <a:off x="7721650" y="1409731"/>
            <a:ext cx="390378" cy="2961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EB8A45-BA97-8550-6B7F-67507B3487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51" t="26901" r="19551" b="26901"/>
          <a:stretch/>
        </p:blipFill>
        <p:spPr>
          <a:xfrm>
            <a:off x="8112028" y="1753651"/>
            <a:ext cx="390378" cy="2961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A40235-9AFB-ADA3-7B4A-96D1D465A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41" y="2084909"/>
            <a:ext cx="365578" cy="36557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4B050C9-D4B8-215D-9357-2E348F425D65}"/>
              </a:ext>
            </a:extLst>
          </p:cNvPr>
          <p:cNvSpPr/>
          <p:nvPr/>
        </p:nvSpPr>
        <p:spPr>
          <a:xfrm>
            <a:off x="7766307" y="999622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home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28FFCF-DD26-7AD6-DBA1-974BC83AD03E}"/>
              </a:ext>
            </a:extLst>
          </p:cNvPr>
          <p:cNvSpPr/>
          <p:nvPr/>
        </p:nvSpPr>
        <p:spPr>
          <a:xfrm>
            <a:off x="8143891" y="1356248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EBD34C-E139-EB75-CB65-7815739B0CD9}"/>
              </a:ext>
            </a:extLst>
          </p:cNvPr>
          <p:cNvSpPr/>
          <p:nvPr/>
        </p:nvSpPr>
        <p:spPr>
          <a:xfrm>
            <a:off x="8571778" y="1678141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D8ED7C-49D6-CF12-22D5-E6B9A2775BAB}"/>
              </a:ext>
            </a:extLst>
          </p:cNvPr>
          <p:cNvSpPr/>
          <p:nvPr/>
        </p:nvSpPr>
        <p:spPr>
          <a:xfrm>
            <a:off x="8840219" y="2074906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big_data.fq.gz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2133D1D-7DF7-2F20-3B1D-01654491C852}"/>
              </a:ext>
            </a:extLst>
          </p:cNvPr>
          <p:cNvSpPr txBox="1">
            <a:spLocks/>
          </p:cNvSpPr>
          <p:nvPr/>
        </p:nvSpPr>
        <p:spPr>
          <a:xfrm>
            <a:off x="721413" y="1540914"/>
            <a:ext cx="6117431" cy="233885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/>
              <a:t>If I’m in </a:t>
            </a:r>
            <a:r>
              <a:rPr lang="en-GB" sz="2000" dirty="0">
                <a:latin typeface="Consolas" panose="020B0609020204030204" pitchFamily="49" charset="0"/>
                <a:cs typeface="Courier New" panose="02070309020205020404" pitchFamily="49" charset="0"/>
              </a:rPr>
              <a:t>/home/user</a:t>
            </a:r>
          </a:p>
          <a:p>
            <a:r>
              <a:rPr lang="en-GB" sz="2000" dirty="0"/>
              <a:t>Absolute path:</a:t>
            </a:r>
          </a:p>
          <a:p>
            <a:pPr marL="0" indent="0">
              <a:buNone/>
            </a:pPr>
            <a:r>
              <a:rPr lang="en-GB" sz="2000" dirty="0"/>
              <a:t>	</a:t>
            </a:r>
            <a:r>
              <a:rPr lang="en-GB" sz="2000" dirty="0">
                <a:latin typeface="Consolas" panose="020B0609020204030204" pitchFamily="49" charset="0"/>
                <a:cs typeface="Courier New" panose="02070309020205020404" pitchFamily="49" charset="0"/>
              </a:rPr>
              <a:t>/home/user/Data/big_data.fq.gz</a:t>
            </a:r>
          </a:p>
          <a:p>
            <a:r>
              <a:rPr lang="en-GB" sz="2000" dirty="0"/>
              <a:t>Relative path: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2000" dirty="0">
                <a:latin typeface="Consolas" panose="020B0609020204030204" pitchFamily="49" charset="0"/>
                <a:cs typeface="Courier New" panose="02070309020205020404" pitchFamily="49" charset="0"/>
              </a:rPr>
              <a:t>Data/big_data.fq.gz </a:t>
            </a:r>
          </a:p>
          <a:p>
            <a:pPr marL="0" lvl="2" indent="0">
              <a:buNone/>
            </a:pPr>
            <a:endParaRPr lang="en-GB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19C242-C566-C664-0D58-8A327B792BDD}"/>
              </a:ext>
            </a:extLst>
          </p:cNvPr>
          <p:cNvSpPr txBox="1"/>
          <p:nvPr/>
        </p:nvSpPr>
        <p:spPr>
          <a:xfrm>
            <a:off x="372143" y="380901"/>
            <a:ext cx="4162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Specifying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 file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paths</a:t>
            </a:r>
            <a:endParaRPr lang="es-ES" sz="28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995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46954-710A-B65E-8188-1779007F4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DA10A7F-AA64-1931-EB13-B039065331D0}"/>
              </a:ext>
            </a:extLst>
          </p:cNvPr>
          <p:cNvSpPr txBox="1"/>
          <p:nvPr/>
        </p:nvSpPr>
        <p:spPr>
          <a:xfrm>
            <a:off x="984883" y="1490008"/>
            <a:ext cx="89415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Command line completion is achieved by typing a partial path and then pressing the TAB key (to the left of Q).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You should use TAB completion to fill in paths for locations which exist so you can't make typing mistakes.</a:t>
            </a:r>
          </a:p>
          <a:p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2C008E-B010-4873-AAFD-B5294A19CD59}"/>
              </a:ext>
            </a:extLst>
          </p:cNvPr>
          <p:cNvSpPr txBox="1"/>
          <p:nvPr/>
        </p:nvSpPr>
        <p:spPr>
          <a:xfrm>
            <a:off x="372142" y="380901"/>
            <a:ext cx="5868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Command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 line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completion</a:t>
            </a:r>
            <a:endParaRPr lang="es-ES" sz="28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0181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B79CB-A790-9690-399B-4D157E6AA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C6C2BB-C6DD-EEFB-4FF9-EB5299305B35}"/>
              </a:ext>
            </a:extLst>
          </p:cNvPr>
          <p:cNvSpPr txBox="1"/>
          <p:nvPr/>
        </p:nvSpPr>
        <p:spPr>
          <a:xfrm>
            <a:off x="2860911" y="2782669"/>
            <a:ext cx="647017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5400" dirty="0"/>
          </a:p>
          <a:p>
            <a:pPr algn="ctr"/>
            <a:endParaRPr lang="es-E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6671A8-E0E7-C220-F6BB-7161033F048F}"/>
              </a:ext>
            </a:extLst>
          </p:cNvPr>
          <p:cNvSpPr txBox="1"/>
          <p:nvPr/>
        </p:nvSpPr>
        <p:spPr>
          <a:xfrm>
            <a:off x="3013311" y="2935069"/>
            <a:ext cx="647017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dirty="0"/>
              <a:t>RNA-</a:t>
            </a:r>
            <a:r>
              <a:rPr lang="es-ES" sz="5400" dirty="0" err="1"/>
              <a:t>seq</a:t>
            </a:r>
            <a:r>
              <a:rPr lang="es-ES" sz="5400" dirty="0"/>
              <a:t> </a:t>
            </a:r>
            <a:r>
              <a:rPr lang="es-ES" sz="5400" dirty="0" err="1"/>
              <a:t>analysis</a:t>
            </a:r>
            <a:endParaRPr lang="es-ES" sz="5400" dirty="0"/>
          </a:p>
          <a:p>
            <a:pPr algn="ctr"/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4064800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D5FB6-365C-C695-8274-DB61639D4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03210345-8DB1-A4FF-41FA-585A4847CCD8}"/>
              </a:ext>
            </a:extLst>
          </p:cNvPr>
          <p:cNvSpPr/>
          <p:nvPr/>
        </p:nvSpPr>
        <p:spPr>
          <a:xfrm>
            <a:off x="8419871" y="4071230"/>
            <a:ext cx="1501319" cy="1792239"/>
          </a:xfrm>
          <a:prstGeom prst="roundRect">
            <a:avLst/>
          </a:prstGeom>
          <a:solidFill>
            <a:srgbClr val="BE0E90">
              <a:alpha val="18000"/>
            </a:srgbClr>
          </a:solidFill>
          <a:ln>
            <a:solidFill>
              <a:srgbClr val="BE0E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220F15B-83F8-AE08-EAC8-EAA00CD45F29}"/>
              </a:ext>
            </a:extLst>
          </p:cNvPr>
          <p:cNvSpPr/>
          <p:nvPr/>
        </p:nvSpPr>
        <p:spPr>
          <a:xfrm>
            <a:off x="8654277" y="4396074"/>
            <a:ext cx="1057226" cy="543339"/>
          </a:xfrm>
          <a:prstGeom prst="roundRect">
            <a:avLst/>
          </a:prstGeom>
          <a:solidFill>
            <a:srgbClr val="BE0E90"/>
          </a:solidFill>
          <a:ln>
            <a:solidFill>
              <a:srgbClr val="BE0E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26E3DD7-F061-61A3-380E-E002DA2C0734}"/>
              </a:ext>
            </a:extLst>
          </p:cNvPr>
          <p:cNvSpPr/>
          <p:nvPr/>
        </p:nvSpPr>
        <p:spPr>
          <a:xfrm>
            <a:off x="1252330" y="1659627"/>
            <a:ext cx="1083871" cy="1931985"/>
          </a:xfrm>
          <a:prstGeom prst="roundRect">
            <a:avLst/>
          </a:prstGeom>
          <a:solidFill>
            <a:schemeClr val="accent2">
              <a:alpha val="26000"/>
            </a:schemeClr>
          </a:solidFill>
          <a:ln>
            <a:solidFill>
              <a:srgbClr val="020D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920732F-EBA2-6BE7-F735-25C41861B4D2}"/>
              </a:ext>
            </a:extLst>
          </p:cNvPr>
          <p:cNvSpPr/>
          <p:nvPr/>
        </p:nvSpPr>
        <p:spPr>
          <a:xfrm>
            <a:off x="3171464" y="2101400"/>
            <a:ext cx="3396901" cy="1019046"/>
          </a:xfrm>
          <a:prstGeom prst="roundRect">
            <a:avLst/>
          </a:prstGeom>
          <a:solidFill>
            <a:schemeClr val="accent1">
              <a:alpha val="33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CA61DB-EDCD-4055-431B-7FD113786E81}"/>
              </a:ext>
            </a:extLst>
          </p:cNvPr>
          <p:cNvSpPr/>
          <p:nvPr/>
        </p:nvSpPr>
        <p:spPr>
          <a:xfrm>
            <a:off x="1323696" y="2166426"/>
            <a:ext cx="935664" cy="691215"/>
          </a:xfrm>
          <a:prstGeom prst="roundRect">
            <a:avLst/>
          </a:prstGeom>
          <a:solidFill>
            <a:srgbClr val="002060"/>
          </a:solidFill>
          <a:ln>
            <a:solidFill>
              <a:srgbClr val="020D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11C39A6-E573-05C6-84D8-1C4A825C7F63}"/>
              </a:ext>
            </a:extLst>
          </p:cNvPr>
          <p:cNvSpPr/>
          <p:nvPr/>
        </p:nvSpPr>
        <p:spPr>
          <a:xfrm>
            <a:off x="1323696" y="2939046"/>
            <a:ext cx="935664" cy="518760"/>
          </a:xfrm>
          <a:prstGeom prst="roundRect">
            <a:avLst/>
          </a:prstGeom>
          <a:solidFill>
            <a:srgbClr val="002060"/>
          </a:solidFill>
          <a:ln>
            <a:solidFill>
              <a:srgbClr val="020D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08888C8-BD0C-C322-20AA-42A64AC03CD7}"/>
              </a:ext>
            </a:extLst>
          </p:cNvPr>
          <p:cNvSpPr/>
          <p:nvPr/>
        </p:nvSpPr>
        <p:spPr>
          <a:xfrm>
            <a:off x="3247876" y="2458631"/>
            <a:ext cx="935664" cy="51876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958DBDA-CAB0-51C7-9031-55B888A2D0F3}"/>
              </a:ext>
            </a:extLst>
          </p:cNvPr>
          <p:cNvSpPr/>
          <p:nvPr/>
        </p:nvSpPr>
        <p:spPr>
          <a:xfrm>
            <a:off x="4404849" y="2447998"/>
            <a:ext cx="935664" cy="51876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55496F-620F-4150-B677-ADA0814AD93D}"/>
              </a:ext>
            </a:extLst>
          </p:cNvPr>
          <p:cNvSpPr txBox="1"/>
          <p:nvPr/>
        </p:nvSpPr>
        <p:spPr>
          <a:xfrm>
            <a:off x="1277161" y="2199702"/>
            <a:ext cx="108693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Download</a:t>
            </a:r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from </a:t>
            </a:r>
            <a:r>
              <a:rPr lang="es-E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repository</a:t>
            </a:r>
            <a:endParaRPr lang="es-E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C13E30-ED21-5FE4-0026-BD17AC47419C}"/>
              </a:ext>
            </a:extLst>
          </p:cNvPr>
          <p:cNvSpPr txBox="1"/>
          <p:nvPr/>
        </p:nvSpPr>
        <p:spPr>
          <a:xfrm>
            <a:off x="1307653" y="2915543"/>
            <a:ext cx="99788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Own</a:t>
            </a:r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sequencing</a:t>
            </a:r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58E222-454C-E23C-46C4-07F78B66944F}"/>
              </a:ext>
            </a:extLst>
          </p:cNvPr>
          <p:cNvSpPr txBox="1"/>
          <p:nvPr/>
        </p:nvSpPr>
        <p:spPr>
          <a:xfrm>
            <a:off x="2264675" y="2594909"/>
            <a:ext cx="10283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files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(FASTQ)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D5D5A7-3F41-751C-307B-6F739684762D}"/>
              </a:ext>
            </a:extLst>
          </p:cNvPr>
          <p:cNvSpPr txBox="1"/>
          <p:nvPr/>
        </p:nvSpPr>
        <p:spPr>
          <a:xfrm>
            <a:off x="1252330" y="1710880"/>
            <a:ext cx="1251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ACQUISITION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02DB48-4A57-E20D-BEC6-2A913E9F03ED}"/>
              </a:ext>
            </a:extLst>
          </p:cNvPr>
          <p:cNvSpPr txBox="1"/>
          <p:nvPr/>
        </p:nvSpPr>
        <p:spPr>
          <a:xfrm>
            <a:off x="3209382" y="2112127"/>
            <a:ext cx="3465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READS PREPROCESSING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BB0A67-669B-C470-597F-CBD06FBD6EBA}"/>
              </a:ext>
            </a:extLst>
          </p:cNvPr>
          <p:cNvSpPr txBox="1"/>
          <p:nvPr/>
        </p:nvSpPr>
        <p:spPr>
          <a:xfrm>
            <a:off x="3209580" y="2512171"/>
            <a:ext cx="10283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</a:t>
            </a:r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QC (</a:t>
            </a:r>
            <a:r>
              <a:rPr lang="es-E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FastQC</a:t>
            </a:r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83705B6-7A0E-C9F7-475C-AB4DE0975944}"/>
              </a:ext>
            </a:extLst>
          </p:cNvPr>
          <p:cNvSpPr txBox="1"/>
          <p:nvPr/>
        </p:nvSpPr>
        <p:spPr>
          <a:xfrm>
            <a:off x="4353150" y="2478993"/>
            <a:ext cx="10283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Trim</a:t>
            </a:r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reads</a:t>
            </a:r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(Trim-Galore)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F71C42F-741C-97AB-4FFE-53011E494EDA}"/>
              </a:ext>
            </a:extLst>
          </p:cNvPr>
          <p:cNvSpPr/>
          <p:nvPr/>
        </p:nvSpPr>
        <p:spPr>
          <a:xfrm>
            <a:off x="5554555" y="2444030"/>
            <a:ext cx="935664" cy="51876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1221AF-84E3-BFA3-0108-15B64AA49361}"/>
              </a:ext>
            </a:extLst>
          </p:cNvPr>
          <p:cNvSpPr txBox="1"/>
          <p:nvPr/>
        </p:nvSpPr>
        <p:spPr>
          <a:xfrm>
            <a:off x="5484494" y="2473561"/>
            <a:ext cx="10838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Post-trimming</a:t>
            </a:r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QC (</a:t>
            </a:r>
            <a:r>
              <a:rPr lang="es-E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FastQC</a:t>
            </a:r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E575B1F-AAC4-7B0A-D658-5C51CBA032BF}"/>
              </a:ext>
            </a:extLst>
          </p:cNvPr>
          <p:cNvSpPr/>
          <p:nvPr/>
        </p:nvSpPr>
        <p:spPr>
          <a:xfrm>
            <a:off x="7579094" y="2101399"/>
            <a:ext cx="2370149" cy="1018295"/>
          </a:xfrm>
          <a:prstGeom prst="roundRect">
            <a:avLst/>
          </a:prstGeom>
          <a:solidFill>
            <a:srgbClr val="C09C16">
              <a:alpha val="15000"/>
            </a:srgbClr>
          </a:solidFill>
          <a:ln>
            <a:solidFill>
              <a:srgbClr val="C09C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8192E40-2632-4AEB-0817-31D61D25DC79}"/>
              </a:ext>
            </a:extLst>
          </p:cNvPr>
          <p:cNvSpPr/>
          <p:nvPr/>
        </p:nvSpPr>
        <p:spPr>
          <a:xfrm>
            <a:off x="7700406" y="2444284"/>
            <a:ext cx="935664" cy="518760"/>
          </a:xfrm>
          <a:prstGeom prst="roundRect">
            <a:avLst/>
          </a:prstGeom>
          <a:solidFill>
            <a:srgbClr val="C09C16"/>
          </a:solidFill>
          <a:ln>
            <a:solidFill>
              <a:srgbClr val="C09C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88FDA98-0972-D1BA-2317-922E494020FC}"/>
              </a:ext>
            </a:extLst>
          </p:cNvPr>
          <p:cNvSpPr/>
          <p:nvPr/>
        </p:nvSpPr>
        <p:spPr>
          <a:xfrm>
            <a:off x="8857379" y="2433651"/>
            <a:ext cx="995308" cy="518760"/>
          </a:xfrm>
          <a:prstGeom prst="roundRect">
            <a:avLst/>
          </a:prstGeom>
          <a:solidFill>
            <a:srgbClr val="C09C16"/>
          </a:solidFill>
          <a:ln>
            <a:solidFill>
              <a:srgbClr val="C09C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DC033C-A7F0-4FC7-632F-5F0AF30428B4}"/>
              </a:ext>
            </a:extLst>
          </p:cNvPr>
          <p:cNvSpPr txBox="1"/>
          <p:nvPr/>
        </p:nvSpPr>
        <p:spPr>
          <a:xfrm>
            <a:off x="7562326" y="2112127"/>
            <a:ext cx="17496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ALIGNMENT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AE659E-EE36-B021-2BB5-7303FD7E978C}"/>
              </a:ext>
            </a:extLst>
          </p:cNvPr>
          <p:cNvSpPr txBox="1"/>
          <p:nvPr/>
        </p:nvSpPr>
        <p:spPr>
          <a:xfrm>
            <a:off x="7689272" y="2416347"/>
            <a:ext cx="93245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reads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genome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(HISAT2)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CF5226-FA1D-1688-6793-76C40BE8D469}"/>
              </a:ext>
            </a:extLst>
          </p:cNvPr>
          <p:cNvSpPr txBox="1"/>
          <p:nvPr/>
        </p:nvSpPr>
        <p:spPr>
          <a:xfrm>
            <a:off x="8762969" y="2392222"/>
            <a:ext cx="118627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Convert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sort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alignments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SAMTools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89E7329-1A3C-1247-4228-61E6A8C92228}"/>
              </a:ext>
            </a:extLst>
          </p:cNvPr>
          <p:cNvSpPr txBox="1"/>
          <p:nvPr/>
        </p:nvSpPr>
        <p:spPr>
          <a:xfrm>
            <a:off x="6392261" y="2603266"/>
            <a:ext cx="134569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Pre-processed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files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(FASTQ)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C532A1-C591-A3B8-29D3-9FB65755C2A9}"/>
              </a:ext>
            </a:extLst>
          </p:cNvPr>
          <p:cNvSpPr txBox="1"/>
          <p:nvPr/>
        </p:nvSpPr>
        <p:spPr>
          <a:xfrm>
            <a:off x="6322582" y="1506504"/>
            <a:ext cx="16107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Reference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genome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(FASTA)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4231A3E-FD0D-86CF-9ECF-15762E5F6612}"/>
              </a:ext>
            </a:extLst>
          </p:cNvPr>
          <p:cNvSpPr txBox="1"/>
          <p:nvPr/>
        </p:nvSpPr>
        <p:spPr>
          <a:xfrm>
            <a:off x="8569985" y="4072815"/>
            <a:ext cx="17496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QUANTITATION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82B30CA-0D6D-4D12-8D0D-441FD0B9AC21}"/>
              </a:ext>
            </a:extLst>
          </p:cNvPr>
          <p:cNvSpPr txBox="1"/>
          <p:nvPr/>
        </p:nvSpPr>
        <p:spPr>
          <a:xfrm>
            <a:off x="9163089" y="3364693"/>
            <a:ext cx="1266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Alignment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files 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(BAM)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8F08264-F024-075F-9A8C-F3B114C65428}"/>
              </a:ext>
            </a:extLst>
          </p:cNvPr>
          <p:cNvSpPr txBox="1"/>
          <p:nvPr/>
        </p:nvSpPr>
        <p:spPr>
          <a:xfrm>
            <a:off x="8582027" y="4372554"/>
            <a:ext cx="121413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</a:t>
            </a:r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reads</a:t>
            </a:r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gene (</a:t>
            </a:r>
            <a:r>
              <a:rPr lang="es-E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featureCounts</a:t>
            </a:r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9B6CCA-7944-8CED-810B-B7E11733F5A1}"/>
              </a:ext>
            </a:extLst>
          </p:cNvPr>
          <p:cNvSpPr txBox="1"/>
          <p:nvPr/>
        </p:nvSpPr>
        <p:spPr>
          <a:xfrm>
            <a:off x="6366020" y="4776975"/>
            <a:ext cx="11123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Normalized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counts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166EA541-C0F4-1BBF-FAC0-8B87AA48C83E}"/>
              </a:ext>
            </a:extLst>
          </p:cNvPr>
          <p:cNvSpPr/>
          <p:nvPr/>
        </p:nvSpPr>
        <p:spPr>
          <a:xfrm>
            <a:off x="3256517" y="4288617"/>
            <a:ext cx="2683210" cy="1261999"/>
          </a:xfrm>
          <a:prstGeom prst="roundRect">
            <a:avLst/>
          </a:prstGeom>
          <a:solidFill>
            <a:srgbClr val="AB0501">
              <a:alpha val="26000"/>
            </a:srgbClr>
          </a:solidFill>
          <a:ln>
            <a:solidFill>
              <a:srgbClr val="AB05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CD1AB89D-65EF-C66A-327F-DEFA07FC1F83}"/>
              </a:ext>
            </a:extLst>
          </p:cNvPr>
          <p:cNvSpPr/>
          <p:nvPr/>
        </p:nvSpPr>
        <p:spPr>
          <a:xfrm>
            <a:off x="4850217" y="4728882"/>
            <a:ext cx="935664" cy="587439"/>
          </a:xfrm>
          <a:prstGeom prst="roundRect">
            <a:avLst/>
          </a:prstGeom>
          <a:solidFill>
            <a:srgbClr val="AB0501"/>
          </a:solidFill>
          <a:ln>
            <a:solidFill>
              <a:srgbClr val="AB05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6A352DA-6536-D8C0-D9AC-C897572CFDF0}"/>
              </a:ext>
            </a:extLst>
          </p:cNvPr>
          <p:cNvSpPr txBox="1"/>
          <p:nvPr/>
        </p:nvSpPr>
        <p:spPr>
          <a:xfrm>
            <a:off x="4743775" y="4720879"/>
            <a:ext cx="1136672" cy="6001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Differential</a:t>
            </a:r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expresión</a:t>
            </a:r>
          </a:p>
          <a:p>
            <a:pPr algn="ctr"/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(DESeq2)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9B6692F-FE17-7F0D-7CA0-1039E84B7057}"/>
              </a:ext>
            </a:extLst>
          </p:cNvPr>
          <p:cNvSpPr txBox="1"/>
          <p:nvPr/>
        </p:nvSpPr>
        <p:spPr>
          <a:xfrm>
            <a:off x="372143" y="380901"/>
            <a:ext cx="5956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Analysis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flowchart</a:t>
            </a:r>
            <a:endParaRPr lang="es-ES" sz="2800" b="1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D7B2BA-45C8-14B3-FBF8-9CAFCFDEA011}"/>
              </a:ext>
            </a:extLst>
          </p:cNvPr>
          <p:cNvCxnSpPr>
            <a:cxnSpLocks/>
          </p:cNvCxnSpPr>
          <p:nvPr/>
        </p:nvCxnSpPr>
        <p:spPr>
          <a:xfrm>
            <a:off x="2475918" y="2621162"/>
            <a:ext cx="4945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81D0B71-119F-9425-4BD0-F7D38DED2AE2}"/>
              </a:ext>
            </a:extLst>
          </p:cNvPr>
          <p:cNvCxnSpPr>
            <a:cxnSpLocks/>
          </p:cNvCxnSpPr>
          <p:nvPr/>
        </p:nvCxnSpPr>
        <p:spPr>
          <a:xfrm>
            <a:off x="2829126" y="2621162"/>
            <a:ext cx="2827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56F2C8-BAC0-35D9-A814-0E1DCCB4EB59}"/>
              </a:ext>
            </a:extLst>
          </p:cNvPr>
          <p:cNvCxnSpPr>
            <a:cxnSpLocks/>
          </p:cNvCxnSpPr>
          <p:nvPr/>
        </p:nvCxnSpPr>
        <p:spPr>
          <a:xfrm flipV="1">
            <a:off x="6712664" y="2621162"/>
            <a:ext cx="788309" cy="3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4288A2D-AAEC-7F81-20CE-9B4090E1E0E3}"/>
              </a:ext>
            </a:extLst>
          </p:cNvPr>
          <p:cNvCxnSpPr>
            <a:cxnSpLocks/>
          </p:cNvCxnSpPr>
          <p:nvPr/>
        </p:nvCxnSpPr>
        <p:spPr>
          <a:xfrm>
            <a:off x="8687851" y="2621162"/>
            <a:ext cx="1164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B08C76F-CF14-5DAA-CE01-A55D5E684CE8}"/>
              </a:ext>
            </a:extLst>
          </p:cNvPr>
          <p:cNvCxnSpPr>
            <a:cxnSpLocks/>
          </p:cNvCxnSpPr>
          <p:nvPr/>
        </p:nvCxnSpPr>
        <p:spPr>
          <a:xfrm>
            <a:off x="5381820" y="2621162"/>
            <a:ext cx="1164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819304DE-F97C-BC64-382E-DE9EF8130A85}"/>
              </a:ext>
            </a:extLst>
          </p:cNvPr>
          <p:cNvCxnSpPr>
            <a:cxnSpLocks/>
          </p:cNvCxnSpPr>
          <p:nvPr/>
        </p:nvCxnSpPr>
        <p:spPr>
          <a:xfrm>
            <a:off x="4232026" y="2621162"/>
            <a:ext cx="1164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651FB48F-1199-E52F-D85A-1F556F43DF32}"/>
              </a:ext>
            </a:extLst>
          </p:cNvPr>
          <p:cNvCxnSpPr>
            <a:cxnSpLocks/>
          </p:cNvCxnSpPr>
          <p:nvPr/>
        </p:nvCxnSpPr>
        <p:spPr>
          <a:xfrm flipH="1">
            <a:off x="7500973" y="5037675"/>
            <a:ext cx="7159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92F114CC-723E-EC33-A87F-1326233F2889}"/>
              </a:ext>
            </a:extLst>
          </p:cNvPr>
          <p:cNvCxnSpPr>
            <a:cxnSpLocks/>
          </p:cNvCxnSpPr>
          <p:nvPr/>
        </p:nvCxnSpPr>
        <p:spPr>
          <a:xfrm flipH="1">
            <a:off x="6053310" y="5013811"/>
            <a:ext cx="2730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654800F7-AFFA-00ED-7BD7-AAB7FFEEBF39}"/>
              </a:ext>
            </a:extLst>
          </p:cNvPr>
          <p:cNvSpPr txBox="1"/>
          <p:nvPr/>
        </p:nvSpPr>
        <p:spPr>
          <a:xfrm>
            <a:off x="3427482" y="4314616"/>
            <a:ext cx="2281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STATISTICAL AND </a:t>
            </a:r>
          </a:p>
          <a:p>
            <a:r>
              <a:rPr lang="es-E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ANALYSIS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FDF0396F-F5C1-904F-949E-1B1C5C622136}"/>
              </a:ext>
            </a:extLst>
          </p:cNvPr>
          <p:cNvCxnSpPr>
            <a:cxnSpLocks/>
          </p:cNvCxnSpPr>
          <p:nvPr/>
        </p:nvCxnSpPr>
        <p:spPr>
          <a:xfrm flipV="1">
            <a:off x="7129111" y="2351833"/>
            <a:ext cx="381874" cy="3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1A60E7B-A3D7-8DA0-C7CA-B828E795C91D}"/>
              </a:ext>
            </a:extLst>
          </p:cNvPr>
          <p:cNvSpPr/>
          <p:nvPr/>
        </p:nvSpPr>
        <p:spPr>
          <a:xfrm>
            <a:off x="3430201" y="4725207"/>
            <a:ext cx="935664" cy="591509"/>
          </a:xfrm>
          <a:prstGeom prst="roundRect">
            <a:avLst/>
          </a:prstGeom>
          <a:solidFill>
            <a:srgbClr val="AB0501"/>
          </a:solidFill>
          <a:ln>
            <a:solidFill>
              <a:srgbClr val="AB05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F87A23-9114-F45F-8844-836041B1ED24}"/>
              </a:ext>
            </a:extLst>
          </p:cNvPr>
          <p:cNvSpPr txBox="1"/>
          <p:nvPr/>
        </p:nvSpPr>
        <p:spPr>
          <a:xfrm>
            <a:off x="3393471" y="4716158"/>
            <a:ext cx="102838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Pathway</a:t>
            </a:r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enrichment</a:t>
            </a:r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lang="es-E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4E08C6F-E386-A717-F46E-B8311F04BE28}"/>
              </a:ext>
            </a:extLst>
          </p:cNvPr>
          <p:cNvCxnSpPr>
            <a:cxnSpLocks/>
          </p:cNvCxnSpPr>
          <p:nvPr/>
        </p:nvCxnSpPr>
        <p:spPr>
          <a:xfrm>
            <a:off x="9177846" y="3318153"/>
            <a:ext cx="0" cy="5469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BD469FE-1387-2AFA-D90D-CE4C308B3CB2}"/>
              </a:ext>
            </a:extLst>
          </p:cNvPr>
          <p:cNvCxnSpPr>
            <a:cxnSpLocks/>
          </p:cNvCxnSpPr>
          <p:nvPr/>
        </p:nvCxnSpPr>
        <p:spPr>
          <a:xfrm>
            <a:off x="7123825" y="1961792"/>
            <a:ext cx="0" cy="3950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16FE30C4-53ED-DF10-87EC-B70169BA887B}"/>
              </a:ext>
            </a:extLst>
          </p:cNvPr>
          <p:cNvCxnSpPr>
            <a:cxnSpLocks/>
          </p:cNvCxnSpPr>
          <p:nvPr/>
        </p:nvCxnSpPr>
        <p:spPr>
          <a:xfrm flipH="1">
            <a:off x="4418371" y="4994673"/>
            <a:ext cx="1173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3A4AF494-C947-D3BA-B687-0E534C985A7F}"/>
              </a:ext>
            </a:extLst>
          </p:cNvPr>
          <p:cNvCxnSpPr>
            <a:cxnSpLocks/>
          </p:cNvCxnSpPr>
          <p:nvPr/>
        </p:nvCxnSpPr>
        <p:spPr>
          <a:xfrm>
            <a:off x="4521929" y="4996071"/>
            <a:ext cx="2544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2B71945-04AE-4607-F8DE-ABADAE641636}"/>
              </a:ext>
            </a:extLst>
          </p:cNvPr>
          <p:cNvSpPr txBox="1"/>
          <p:nvPr/>
        </p:nvSpPr>
        <p:spPr>
          <a:xfrm>
            <a:off x="7282342" y="3319930"/>
            <a:ext cx="16107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Genome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annotation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(GTF)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87990A5-7201-637B-C569-CCDBBDB9E125}"/>
              </a:ext>
            </a:extLst>
          </p:cNvPr>
          <p:cNvCxnSpPr>
            <a:cxnSpLocks/>
          </p:cNvCxnSpPr>
          <p:nvPr/>
        </p:nvCxnSpPr>
        <p:spPr>
          <a:xfrm>
            <a:off x="8930761" y="3563654"/>
            <a:ext cx="0" cy="3043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1E3C9A6-9DCD-DF48-4780-EA0B7FCD3FCC}"/>
              </a:ext>
            </a:extLst>
          </p:cNvPr>
          <p:cNvCxnSpPr>
            <a:cxnSpLocks/>
          </p:cNvCxnSpPr>
          <p:nvPr/>
        </p:nvCxnSpPr>
        <p:spPr>
          <a:xfrm flipH="1">
            <a:off x="8553687" y="3553232"/>
            <a:ext cx="3770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DAA5FBF-E71A-970E-67B8-A72908F8B848}"/>
              </a:ext>
            </a:extLst>
          </p:cNvPr>
          <p:cNvSpPr/>
          <p:nvPr/>
        </p:nvSpPr>
        <p:spPr>
          <a:xfrm>
            <a:off x="8659570" y="5148467"/>
            <a:ext cx="1057226" cy="543339"/>
          </a:xfrm>
          <a:prstGeom prst="roundRect">
            <a:avLst/>
          </a:prstGeom>
          <a:solidFill>
            <a:srgbClr val="BE0E90"/>
          </a:solidFill>
          <a:ln>
            <a:solidFill>
              <a:srgbClr val="BE0E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71F612-D225-D054-F081-7611FB102F40}"/>
              </a:ext>
            </a:extLst>
          </p:cNvPr>
          <p:cNvSpPr txBox="1"/>
          <p:nvPr/>
        </p:nvSpPr>
        <p:spPr>
          <a:xfrm>
            <a:off x="8646326" y="5184516"/>
            <a:ext cx="11123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</a:t>
            </a:r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normalization</a:t>
            </a:r>
            <a:endParaRPr lang="es-E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9ADFFB5-7B2F-926A-471A-B6EF0485C885}"/>
              </a:ext>
            </a:extLst>
          </p:cNvPr>
          <p:cNvCxnSpPr>
            <a:cxnSpLocks/>
          </p:cNvCxnSpPr>
          <p:nvPr/>
        </p:nvCxnSpPr>
        <p:spPr>
          <a:xfrm>
            <a:off x="9196284" y="4961475"/>
            <a:ext cx="0" cy="152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540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97B8B6-0B8D-2CD3-9914-E737A749B419}"/>
              </a:ext>
            </a:extLst>
          </p:cNvPr>
          <p:cNvSpPr txBox="1"/>
          <p:nvPr/>
        </p:nvSpPr>
        <p:spPr>
          <a:xfrm>
            <a:off x="372143" y="380901"/>
            <a:ext cx="69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1. Raw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sequence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quality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 control (QC)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FDA78B3-EA3C-EB05-C2C2-EBA64207314C}"/>
              </a:ext>
            </a:extLst>
          </p:cNvPr>
          <p:cNvSpPr txBox="1">
            <a:spLocks/>
          </p:cNvSpPr>
          <p:nvPr/>
        </p:nvSpPr>
        <p:spPr>
          <a:xfrm>
            <a:off x="609600" y="1600201"/>
            <a:ext cx="3758208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Base call quality</a:t>
            </a:r>
          </a:p>
          <a:p>
            <a:r>
              <a:rPr lang="en-GB" dirty="0"/>
              <a:t>Composition</a:t>
            </a:r>
          </a:p>
          <a:p>
            <a:r>
              <a:rPr lang="en-GB" dirty="0"/>
              <a:t>Duplication</a:t>
            </a:r>
          </a:p>
          <a:p>
            <a:r>
              <a:rPr lang="en-GB" dirty="0"/>
              <a:t>Contamination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59B7B1-E288-587B-F59D-855D46148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435" y="1600201"/>
            <a:ext cx="6990353" cy="4190704"/>
          </a:xfrm>
          <a:prstGeom prst="rect">
            <a:avLst/>
          </a:prstGeom>
        </p:spPr>
      </p:pic>
      <p:pic>
        <p:nvPicPr>
          <p:cNvPr id="2050" name="Picture 2" descr="Ontologic | FastQC">
            <a:extLst>
              <a:ext uri="{FF2B5EF4-FFF2-40B4-BE49-F238E27FC236}">
                <a16:creationId xmlns:a16="http://schemas.microsoft.com/office/drawing/2014/main" id="{1F6DC828-3AFB-35F5-60ED-D541CCAAC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2685" y="245580"/>
            <a:ext cx="1583220" cy="158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7333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ndrewss\Desktop\sierra.png">
            <a:extLst>
              <a:ext uri="{FF2B5EF4-FFF2-40B4-BE49-F238E27FC236}">
                <a16:creationId xmlns:a16="http://schemas.microsoft.com/office/drawing/2014/main" id="{5EDD2D89-5628-430A-4FEC-07231F504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648" y="1268760"/>
            <a:ext cx="6336704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9FB72DF-2269-1494-2C14-6E847DF19B75}"/>
              </a:ext>
            </a:extLst>
          </p:cNvPr>
          <p:cNvSpPr txBox="1"/>
          <p:nvPr/>
        </p:nvSpPr>
        <p:spPr>
          <a:xfrm>
            <a:off x="4870857" y="6021288"/>
            <a:ext cx="2174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Read Position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949EAE-8602-0966-21C4-D34B829B1246}"/>
              </a:ext>
            </a:extLst>
          </p:cNvPr>
          <p:cNvSpPr txBox="1"/>
          <p:nvPr/>
        </p:nvSpPr>
        <p:spPr>
          <a:xfrm>
            <a:off x="709989" y="2842300"/>
            <a:ext cx="21676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Call Quality</a:t>
            </a:r>
          </a:p>
          <a:p>
            <a:pPr algn="r"/>
            <a:r>
              <a:rPr lang="en-GB" sz="2800" dirty="0"/>
              <a:t>(</a:t>
            </a:r>
            <a:r>
              <a:rPr lang="en-GB" sz="2800" dirty="0" err="1"/>
              <a:t>Phred</a:t>
            </a:r>
            <a:r>
              <a:rPr lang="en-GB" sz="2800" dirty="0"/>
              <a:t> score)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490834-9370-10FA-94C3-9C5DFF53BB58}"/>
              </a:ext>
            </a:extLst>
          </p:cNvPr>
          <p:cNvSpPr txBox="1"/>
          <p:nvPr/>
        </p:nvSpPr>
        <p:spPr>
          <a:xfrm>
            <a:off x="372143" y="380901"/>
            <a:ext cx="69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1. Raw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sequence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quality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 control (QC)</a:t>
            </a:r>
          </a:p>
        </p:txBody>
      </p:sp>
    </p:spTree>
    <p:extLst>
      <p:ext uri="{BB962C8B-B14F-4D97-AF65-F5344CB8AC3E}">
        <p14:creationId xmlns:p14="http://schemas.microsoft.com/office/powerpoint/2010/main" val="2666029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andrewss\Desktop\sierra.png">
            <a:extLst>
              <a:ext uri="{FF2B5EF4-FFF2-40B4-BE49-F238E27FC236}">
                <a16:creationId xmlns:a16="http://schemas.microsoft.com/office/drawing/2014/main" id="{FA34A5B1-F2DA-0020-9DD0-4D965828D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7963" y="1155638"/>
            <a:ext cx="6357392" cy="4768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115392-404C-6F3E-2877-23DF1FDDE0FA}"/>
              </a:ext>
            </a:extLst>
          </p:cNvPr>
          <p:cNvSpPr txBox="1"/>
          <p:nvPr/>
        </p:nvSpPr>
        <p:spPr>
          <a:xfrm>
            <a:off x="5231516" y="6079912"/>
            <a:ext cx="2450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Read Position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118725-A8F8-0664-95E0-026FE0B96FDD}"/>
              </a:ext>
            </a:extLst>
          </p:cNvPr>
          <p:cNvSpPr txBox="1"/>
          <p:nvPr/>
        </p:nvSpPr>
        <p:spPr>
          <a:xfrm>
            <a:off x="372143" y="380901"/>
            <a:ext cx="69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1. Raw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sequence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quality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 control (QC)</a:t>
            </a:r>
          </a:p>
        </p:txBody>
      </p:sp>
    </p:spTree>
    <p:extLst>
      <p:ext uri="{BB962C8B-B14F-4D97-AF65-F5344CB8AC3E}">
        <p14:creationId xmlns:p14="http://schemas.microsoft.com/office/powerpoint/2010/main" val="274022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ndrewss\Desktop\duplication_levels.png">
            <a:extLst>
              <a:ext uri="{FF2B5EF4-FFF2-40B4-BE49-F238E27FC236}">
                <a16:creationId xmlns:a16="http://schemas.microsoft.com/office/drawing/2014/main" id="{AB180644-9364-FA9E-567F-F4E532773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1644" y="1417638"/>
            <a:ext cx="6408712" cy="4806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CD55C6-4556-0BDA-0049-5DE1674628BF}"/>
              </a:ext>
            </a:extLst>
          </p:cNvPr>
          <p:cNvSpPr txBox="1"/>
          <p:nvPr/>
        </p:nvSpPr>
        <p:spPr>
          <a:xfrm>
            <a:off x="4379215" y="6208453"/>
            <a:ext cx="34335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Level of duplication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E2AB53-01AB-660E-206A-4736509197D7}"/>
              </a:ext>
            </a:extLst>
          </p:cNvPr>
          <p:cNvSpPr txBox="1"/>
          <p:nvPr/>
        </p:nvSpPr>
        <p:spPr>
          <a:xfrm>
            <a:off x="641715" y="3068960"/>
            <a:ext cx="204177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Percentage</a:t>
            </a:r>
          </a:p>
          <a:p>
            <a:pPr algn="r"/>
            <a:r>
              <a:rPr lang="en-GB" sz="3200" dirty="0"/>
              <a:t>of library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4B4CEE-4A93-D1E5-07B0-185BD0C60913}"/>
              </a:ext>
            </a:extLst>
          </p:cNvPr>
          <p:cNvSpPr txBox="1"/>
          <p:nvPr/>
        </p:nvSpPr>
        <p:spPr>
          <a:xfrm>
            <a:off x="372143" y="380901"/>
            <a:ext cx="69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1. Raw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sequence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quality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 control (QC)</a:t>
            </a:r>
          </a:p>
        </p:txBody>
      </p:sp>
    </p:spTree>
    <p:extLst>
      <p:ext uri="{BB962C8B-B14F-4D97-AF65-F5344CB8AC3E}">
        <p14:creationId xmlns:p14="http://schemas.microsoft.com/office/powerpoint/2010/main" val="1780125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E0152C61-CE71-1D39-30E4-1F48C9883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824"/>
          <a:stretch>
            <a:fillRect/>
          </a:stretch>
        </p:blipFill>
        <p:spPr>
          <a:xfrm>
            <a:off x="2627712" y="2397927"/>
            <a:ext cx="5715000" cy="978604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6EC758-7A15-9271-3356-33F3CA47A25B}"/>
              </a:ext>
            </a:extLst>
          </p:cNvPr>
          <p:cNvSpPr txBox="1"/>
          <p:nvPr/>
        </p:nvSpPr>
        <p:spPr>
          <a:xfrm>
            <a:off x="520329" y="1115931"/>
            <a:ext cx="62775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Removes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adapter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sequences</a:t>
            </a:r>
            <a:endParaRPr lang="es-ES" dirty="0">
              <a:solidFill>
                <a:schemeClr val="tx2">
                  <a:lumMod val="75000"/>
                </a:schemeClr>
              </a:solidFill>
              <a:sym typeface="Palatin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Remove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very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 short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sequences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 (default: &lt; 20bp)</a:t>
            </a:r>
            <a:endParaRPr lang="es-E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036E664-DC23-09F7-6C3F-28FDE0867B72}"/>
              </a:ext>
            </a:extLst>
          </p:cNvPr>
          <p:cNvGrpSpPr/>
          <p:nvPr/>
        </p:nvGrpSpPr>
        <p:grpSpPr>
          <a:xfrm>
            <a:off x="2832025" y="3309423"/>
            <a:ext cx="5352845" cy="1206646"/>
            <a:chOff x="5702148" y="3189959"/>
            <a:chExt cx="5352845" cy="120664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C5B6E1-022B-FBDF-C47A-1A0AEFDD2F95}"/>
                </a:ext>
              </a:extLst>
            </p:cNvPr>
            <p:cNvSpPr/>
            <p:nvPr/>
          </p:nvSpPr>
          <p:spPr>
            <a:xfrm>
              <a:off x="5897366" y="3620403"/>
              <a:ext cx="1191802" cy="324869"/>
            </a:xfrm>
            <a:prstGeom prst="rect">
              <a:avLst/>
            </a:prstGeom>
            <a:solidFill>
              <a:srgbClr val="2F516F"/>
            </a:solidFill>
            <a:ln>
              <a:solidFill>
                <a:srgbClr val="2F516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AA5309C-FCFC-04AE-C029-43FB6758C104}"/>
                </a:ext>
              </a:extLst>
            </p:cNvPr>
            <p:cNvSpPr/>
            <p:nvPr/>
          </p:nvSpPr>
          <p:spPr>
            <a:xfrm>
              <a:off x="7089168" y="3620403"/>
              <a:ext cx="2589088" cy="32486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1BAD255-F6B0-F839-E71F-475234664C60}"/>
                </a:ext>
              </a:extLst>
            </p:cNvPr>
            <p:cNvSpPr/>
            <p:nvPr/>
          </p:nvSpPr>
          <p:spPr>
            <a:xfrm>
              <a:off x="9678256" y="3620402"/>
              <a:ext cx="1191802" cy="324869"/>
            </a:xfrm>
            <a:prstGeom prst="rect">
              <a:avLst/>
            </a:prstGeom>
            <a:solidFill>
              <a:srgbClr val="2F516F"/>
            </a:solidFill>
            <a:ln>
              <a:solidFill>
                <a:srgbClr val="2F516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8057830-5AF2-0C56-30FA-89467D76E733}"/>
                </a:ext>
              </a:extLst>
            </p:cNvPr>
            <p:cNvSpPr txBox="1"/>
            <p:nvPr/>
          </p:nvSpPr>
          <p:spPr>
            <a:xfrm>
              <a:off x="7017250" y="3189959"/>
              <a:ext cx="15616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Read 1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D5D5288-1364-45D2-A233-4073D36461A4}"/>
                </a:ext>
              </a:extLst>
            </p:cNvPr>
            <p:cNvCxnSpPr/>
            <p:nvPr/>
          </p:nvCxnSpPr>
          <p:spPr>
            <a:xfrm>
              <a:off x="7099442" y="3513816"/>
              <a:ext cx="109933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EAC37C4-DABD-37B6-75BA-43DA3A8589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69962" y="4045152"/>
              <a:ext cx="1098000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704DDC7-C951-C1B4-9566-E2BF66FDBCA4}"/>
                </a:ext>
              </a:extLst>
            </p:cNvPr>
            <p:cNvSpPr txBox="1"/>
            <p:nvPr/>
          </p:nvSpPr>
          <p:spPr>
            <a:xfrm>
              <a:off x="8794660" y="4027273"/>
              <a:ext cx="9349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Read 2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1F3F7D0-B129-E90E-526C-F08FD2142C8F}"/>
                </a:ext>
              </a:extLst>
            </p:cNvPr>
            <p:cNvSpPr txBox="1"/>
            <p:nvPr/>
          </p:nvSpPr>
          <p:spPr>
            <a:xfrm>
              <a:off x="7541235" y="3588436"/>
              <a:ext cx="15616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 err="1">
                  <a:solidFill>
                    <a:schemeClr val="bg1"/>
                  </a:solidFill>
                </a:rPr>
                <a:t>Insert</a:t>
              </a:r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871586A-5E1A-9959-6E99-7E0428C14F1F}"/>
                </a:ext>
              </a:extLst>
            </p:cNvPr>
            <p:cNvSpPr txBox="1"/>
            <p:nvPr/>
          </p:nvSpPr>
          <p:spPr>
            <a:xfrm>
              <a:off x="5702148" y="3588436"/>
              <a:ext cx="15616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 err="1">
                  <a:solidFill>
                    <a:schemeClr val="bg1"/>
                  </a:solidFill>
                </a:rPr>
                <a:t>Adapter</a:t>
              </a:r>
              <a:r>
                <a:rPr lang="es-ES" dirty="0">
                  <a:solidFill>
                    <a:schemeClr val="bg1"/>
                  </a:solidFill>
                </a:rPr>
                <a:t> 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A6A0418-3934-C718-9BC8-A37B2601C3A8}"/>
                </a:ext>
              </a:extLst>
            </p:cNvPr>
            <p:cNvSpPr txBox="1"/>
            <p:nvPr/>
          </p:nvSpPr>
          <p:spPr>
            <a:xfrm>
              <a:off x="9493321" y="3588436"/>
              <a:ext cx="15616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 err="1">
                  <a:solidFill>
                    <a:schemeClr val="bg1"/>
                  </a:solidFill>
                </a:rPr>
                <a:t>Adapter</a:t>
              </a:r>
              <a:r>
                <a:rPr lang="es-ES" dirty="0">
                  <a:solidFill>
                    <a:schemeClr val="bg1"/>
                  </a:solidFill>
                </a:rPr>
                <a:t> 2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47B5D9B-EAC9-9426-5DD0-DCAA783B444E}"/>
              </a:ext>
            </a:extLst>
          </p:cNvPr>
          <p:cNvGrpSpPr/>
          <p:nvPr/>
        </p:nvGrpSpPr>
        <p:grpSpPr>
          <a:xfrm>
            <a:off x="3731020" y="5036062"/>
            <a:ext cx="3565137" cy="1207852"/>
            <a:chOff x="6318606" y="4609127"/>
            <a:chExt cx="3565137" cy="120785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B1A7637-E15A-2EF3-254D-85CB621B5F27}"/>
                </a:ext>
              </a:extLst>
            </p:cNvPr>
            <p:cNvSpPr txBox="1"/>
            <p:nvPr/>
          </p:nvSpPr>
          <p:spPr>
            <a:xfrm>
              <a:off x="7592594" y="4609127"/>
              <a:ext cx="15616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Read 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22E4B25-C429-DC37-766A-ED9AC686BF51}"/>
                </a:ext>
              </a:extLst>
            </p:cNvPr>
            <p:cNvSpPr/>
            <p:nvPr/>
          </p:nvSpPr>
          <p:spPr>
            <a:xfrm>
              <a:off x="6482984" y="5034172"/>
              <a:ext cx="1191802" cy="324869"/>
            </a:xfrm>
            <a:prstGeom prst="rect">
              <a:avLst/>
            </a:prstGeom>
            <a:solidFill>
              <a:srgbClr val="2F516F"/>
            </a:solidFill>
            <a:ln>
              <a:solidFill>
                <a:srgbClr val="2F516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8A1C9F6-3723-9593-09F6-3FC03732D934}"/>
                </a:ext>
              </a:extLst>
            </p:cNvPr>
            <p:cNvSpPr/>
            <p:nvPr/>
          </p:nvSpPr>
          <p:spPr>
            <a:xfrm>
              <a:off x="7674786" y="5034172"/>
              <a:ext cx="811659" cy="32486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5EAEF6B-3A25-3559-5574-D9936C05D2B3}"/>
                </a:ext>
              </a:extLst>
            </p:cNvPr>
            <p:cNvSpPr/>
            <p:nvPr/>
          </p:nvSpPr>
          <p:spPr>
            <a:xfrm>
              <a:off x="8486454" y="5034171"/>
              <a:ext cx="1191802" cy="324869"/>
            </a:xfrm>
            <a:prstGeom prst="rect">
              <a:avLst/>
            </a:prstGeom>
            <a:solidFill>
              <a:srgbClr val="2F516F"/>
            </a:solidFill>
            <a:ln>
              <a:solidFill>
                <a:srgbClr val="2F516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82BB80C-3FE8-3D0D-AB8B-E96C5A9C3A48}"/>
                </a:ext>
              </a:extLst>
            </p:cNvPr>
            <p:cNvCxnSpPr/>
            <p:nvPr/>
          </p:nvCxnSpPr>
          <p:spPr>
            <a:xfrm>
              <a:off x="7674786" y="4932984"/>
              <a:ext cx="109933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3F72C77-7703-7069-80D5-84F613D54B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8445" y="5465526"/>
              <a:ext cx="1098000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6F7456A-4EBC-EF0A-86E9-2CBAA1EC1B10}"/>
                </a:ext>
              </a:extLst>
            </p:cNvPr>
            <p:cNvSpPr txBox="1"/>
            <p:nvPr/>
          </p:nvSpPr>
          <p:spPr>
            <a:xfrm>
              <a:off x="7613143" y="5447647"/>
              <a:ext cx="9349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Read 2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57E6684-BE4E-BBF0-A008-680382482A4E}"/>
                </a:ext>
              </a:extLst>
            </p:cNvPr>
            <p:cNvSpPr txBox="1"/>
            <p:nvPr/>
          </p:nvSpPr>
          <p:spPr>
            <a:xfrm>
              <a:off x="6318606" y="5001326"/>
              <a:ext cx="15616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 err="1">
                  <a:solidFill>
                    <a:schemeClr val="bg1"/>
                  </a:solidFill>
                </a:rPr>
                <a:t>Adapter</a:t>
              </a:r>
              <a:r>
                <a:rPr lang="es-ES" dirty="0">
                  <a:solidFill>
                    <a:schemeClr val="bg1"/>
                  </a:solidFill>
                </a:rPr>
                <a:t> 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E544101-563E-8675-27F2-6474B633C44B}"/>
                </a:ext>
              </a:extLst>
            </p:cNvPr>
            <p:cNvSpPr txBox="1"/>
            <p:nvPr/>
          </p:nvSpPr>
          <p:spPr>
            <a:xfrm>
              <a:off x="8322071" y="5001326"/>
              <a:ext cx="15616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 err="1">
                  <a:solidFill>
                    <a:schemeClr val="bg1"/>
                  </a:solidFill>
                </a:rPr>
                <a:t>Adapter</a:t>
              </a:r>
              <a:r>
                <a:rPr lang="es-ES" dirty="0">
                  <a:solidFill>
                    <a:schemeClr val="bg1"/>
                  </a:solidFill>
                </a:rPr>
                <a:t> 2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35A54E3-6251-7654-1F3D-9A470113FC98}"/>
                </a:ext>
              </a:extLst>
            </p:cNvPr>
            <p:cNvSpPr txBox="1"/>
            <p:nvPr/>
          </p:nvSpPr>
          <p:spPr>
            <a:xfrm>
              <a:off x="7299779" y="5001326"/>
              <a:ext cx="15616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 err="1">
                  <a:solidFill>
                    <a:schemeClr val="bg1"/>
                  </a:solidFill>
                </a:rPr>
                <a:t>Insert</a:t>
              </a:r>
              <a:endParaRPr lang="es-ES" dirty="0">
                <a:solidFill>
                  <a:schemeClr val="bg1"/>
                </a:solidFill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00B4176-6408-6DE0-348F-EAB70C25EE41}"/>
              </a:ext>
            </a:extLst>
          </p:cNvPr>
          <p:cNvSpPr txBox="1"/>
          <p:nvPr/>
        </p:nvSpPr>
        <p:spPr>
          <a:xfrm>
            <a:off x="7296157" y="5428512"/>
            <a:ext cx="290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solidFill>
                  <a:schemeClr val="tx2">
                    <a:lumMod val="75000"/>
                  </a:schemeClr>
                </a:solidFill>
              </a:rPr>
              <a:t>Reads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rgbClr val="C00000"/>
                </a:solidFill>
              </a:rPr>
              <a:t>WITH </a:t>
            </a:r>
            <a:r>
              <a:rPr lang="es-ES" dirty="0" err="1">
                <a:solidFill>
                  <a:srgbClr val="C00000"/>
                </a:solidFill>
              </a:rPr>
              <a:t>adapters</a:t>
            </a:r>
            <a:endParaRPr lang="es-ES" dirty="0">
              <a:solidFill>
                <a:srgbClr val="C0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334BCB-9452-F49C-BEB2-350F1ECB65C7}"/>
              </a:ext>
            </a:extLst>
          </p:cNvPr>
          <p:cNvSpPr txBox="1"/>
          <p:nvPr/>
        </p:nvSpPr>
        <p:spPr>
          <a:xfrm>
            <a:off x="8184870" y="3707900"/>
            <a:ext cx="290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solidFill>
                  <a:schemeClr val="tx2">
                    <a:lumMod val="75000"/>
                  </a:schemeClr>
                </a:solidFill>
              </a:rPr>
              <a:t>Reads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</a:rPr>
              <a:t>without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</a:rPr>
              <a:t>adapters</a:t>
            </a:r>
            <a:endParaRPr lang="es-ES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0A7714D-6EFC-43BB-B1E2-00F02AFE4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1863" y="488210"/>
            <a:ext cx="3758521" cy="15126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9FA56B-1D76-EC84-DBAD-2706B178DE50}"/>
              </a:ext>
            </a:extLst>
          </p:cNvPr>
          <p:cNvSpPr txBox="1"/>
          <p:nvPr/>
        </p:nvSpPr>
        <p:spPr>
          <a:xfrm>
            <a:off x="372143" y="380901"/>
            <a:ext cx="69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2. 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Trimming</a:t>
            </a:r>
            <a:endParaRPr lang="es-ES" sz="28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0883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29D81DD-EA4E-A2B6-4AEF-5C004AB0AD33}"/>
              </a:ext>
            </a:extLst>
          </p:cNvPr>
          <p:cNvGrpSpPr/>
          <p:nvPr/>
        </p:nvGrpSpPr>
        <p:grpSpPr>
          <a:xfrm>
            <a:off x="767408" y="1629034"/>
            <a:ext cx="11330789" cy="2430904"/>
            <a:chOff x="2063552" y="2020198"/>
            <a:chExt cx="8052633" cy="1727609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1378CA8-91E7-6108-C1F4-085B2542A7C4}"/>
                </a:ext>
              </a:extLst>
            </p:cNvPr>
            <p:cNvCxnSpPr/>
            <p:nvPr/>
          </p:nvCxnSpPr>
          <p:spPr>
            <a:xfrm>
              <a:off x="3359696" y="3611116"/>
              <a:ext cx="720080" cy="0"/>
            </a:xfrm>
            <a:prstGeom prst="line">
              <a:avLst/>
            </a:prstGeom>
            <a:ln w="2540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D9AD26F-3C19-8E74-173C-249E94AE7155}"/>
                </a:ext>
              </a:extLst>
            </p:cNvPr>
            <p:cNvGrpSpPr/>
            <p:nvPr/>
          </p:nvGrpSpPr>
          <p:grpSpPr>
            <a:xfrm>
              <a:off x="2063552" y="2060848"/>
              <a:ext cx="5040560" cy="288032"/>
              <a:chOff x="827584" y="2492896"/>
              <a:chExt cx="5040560" cy="288032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72B582B0-E160-68F8-0E4A-4E37DD62B9FA}"/>
                  </a:ext>
                </a:extLst>
              </p:cNvPr>
              <p:cNvCxnSpPr/>
              <p:nvPr/>
            </p:nvCxnSpPr>
            <p:spPr>
              <a:xfrm>
                <a:off x="827584" y="2636912"/>
                <a:ext cx="5040560" cy="0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6FBCBDC-32CB-825B-469F-B7D253D2FD6E}"/>
                  </a:ext>
                </a:extLst>
              </p:cNvPr>
              <p:cNvSpPr/>
              <p:nvPr/>
            </p:nvSpPr>
            <p:spPr>
              <a:xfrm>
                <a:off x="1043608" y="2492896"/>
                <a:ext cx="1080120" cy="28803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Exon 1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BA43067-BF1C-E8EA-FC14-2CEE85BEA461}"/>
                  </a:ext>
                </a:extLst>
              </p:cNvPr>
              <p:cNvSpPr/>
              <p:nvPr/>
            </p:nvSpPr>
            <p:spPr>
              <a:xfrm>
                <a:off x="2771800" y="2492896"/>
                <a:ext cx="1080120" cy="28803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Exon 2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F45A73A-463F-BC52-74B1-DF7635E71EA0}"/>
                  </a:ext>
                </a:extLst>
              </p:cNvPr>
              <p:cNvSpPr/>
              <p:nvPr/>
            </p:nvSpPr>
            <p:spPr>
              <a:xfrm>
                <a:off x="4572000" y="2492896"/>
                <a:ext cx="1080120" cy="28803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Exon 3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3510E64-055C-7CB2-DCAC-E8DC49F31622}"/>
                </a:ext>
              </a:extLst>
            </p:cNvPr>
            <p:cNvSpPr txBox="1"/>
            <p:nvPr/>
          </p:nvSpPr>
          <p:spPr>
            <a:xfrm>
              <a:off x="7392145" y="2020198"/>
              <a:ext cx="1017562" cy="3718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/>
                <a:t>Genome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B2BE880-CDFE-63EF-E341-21F0A75DD237}"/>
                </a:ext>
              </a:extLst>
            </p:cNvPr>
            <p:cNvGrpSpPr/>
            <p:nvPr/>
          </p:nvGrpSpPr>
          <p:grpSpPr>
            <a:xfrm>
              <a:off x="5807968" y="2718212"/>
              <a:ext cx="1080120" cy="0"/>
              <a:chOff x="4283968" y="2636912"/>
              <a:chExt cx="1080120" cy="0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35CD0514-F32F-756B-4828-051D4DADCFAC}"/>
                  </a:ext>
                </a:extLst>
              </p:cNvPr>
              <p:cNvCxnSpPr/>
              <p:nvPr/>
            </p:nvCxnSpPr>
            <p:spPr>
              <a:xfrm>
                <a:off x="4427984" y="2636912"/>
                <a:ext cx="792088" cy="0"/>
              </a:xfrm>
              <a:prstGeom prst="line">
                <a:avLst/>
              </a:prstGeom>
              <a:ln w="254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ABD775E8-70F6-4F43-75A5-AFA90505D0A9}"/>
                  </a:ext>
                </a:extLst>
              </p:cNvPr>
              <p:cNvCxnSpPr/>
              <p:nvPr/>
            </p:nvCxnSpPr>
            <p:spPr>
              <a:xfrm>
                <a:off x="4283968" y="2636912"/>
                <a:ext cx="288032" cy="0"/>
              </a:xfrm>
              <a:prstGeom prst="line">
                <a:avLst/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5BC42A7-6D17-491B-69F4-C4D67EB318AB}"/>
                  </a:ext>
                </a:extLst>
              </p:cNvPr>
              <p:cNvCxnSpPr/>
              <p:nvPr/>
            </p:nvCxnSpPr>
            <p:spPr>
              <a:xfrm>
                <a:off x="5076056" y="2636912"/>
                <a:ext cx="288032" cy="0"/>
              </a:xfrm>
              <a:prstGeom prst="line">
                <a:avLst/>
              </a:prstGeom>
              <a:ln w="762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DF209D7-00A1-6226-35AF-0C1181397D1C}"/>
                </a:ext>
              </a:extLst>
            </p:cNvPr>
            <p:cNvSpPr txBox="1"/>
            <p:nvPr/>
          </p:nvSpPr>
          <p:spPr>
            <a:xfrm>
              <a:off x="7392145" y="2527037"/>
              <a:ext cx="2724040" cy="3280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Simple mapping within exons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78CA082-2562-D353-885D-EFD03B26BDB2}"/>
                </a:ext>
              </a:extLst>
            </p:cNvPr>
            <p:cNvGrpSpPr/>
            <p:nvPr/>
          </p:nvGrpSpPr>
          <p:grpSpPr>
            <a:xfrm>
              <a:off x="4439816" y="3150260"/>
              <a:ext cx="1872208" cy="0"/>
              <a:chOff x="2915816" y="3068960"/>
              <a:chExt cx="1872208" cy="0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29891329-609C-D776-E8E2-13BD9E551BF1}"/>
                  </a:ext>
                </a:extLst>
              </p:cNvPr>
              <p:cNvCxnSpPr/>
              <p:nvPr/>
            </p:nvCxnSpPr>
            <p:spPr>
              <a:xfrm>
                <a:off x="3203848" y="3068960"/>
                <a:ext cx="1440160" cy="0"/>
              </a:xfrm>
              <a:prstGeom prst="line">
                <a:avLst/>
              </a:prstGeom>
              <a:ln w="254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4B2593F-B4CC-AC75-F661-AE4F22458357}"/>
                  </a:ext>
                </a:extLst>
              </p:cNvPr>
              <p:cNvCxnSpPr/>
              <p:nvPr/>
            </p:nvCxnSpPr>
            <p:spPr>
              <a:xfrm>
                <a:off x="2915816" y="3068960"/>
                <a:ext cx="288032" cy="0"/>
              </a:xfrm>
              <a:prstGeom prst="line">
                <a:avLst/>
              </a:prstGeom>
              <a:ln w="762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3379E234-3513-4249-C3D9-E14A491FA4BB}"/>
                  </a:ext>
                </a:extLst>
              </p:cNvPr>
              <p:cNvCxnSpPr/>
              <p:nvPr/>
            </p:nvCxnSpPr>
            <p:spPr>
              <a:xfrm>
                <a:off x="4499992" y="3068960"/>
                <a:ext cx="288032" cy="0"/>
              </a:xfrm>
              <a:prstGeom prst="line">
                <a:avLst/>
              </a:prstGeom>
              <a:ln w="762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DFD79B7-78DC-1A85-5302-162B9EACE566}"/>
                </a:ext>
              </a:extLst>
            </p:cNvPr>
            <p:cNvSpPr txBox="1"/>
            <p:nvPr/>
          </p:nvSpPr>
          <p:spPr>
            <a:xfrm>
              <a:off x="7392144" y="2959085"/>
              <a:ext cx="2313096" cy="3280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Mapping between exons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53811BC-84C1-8A34-E8D3-DD04B350A4EF}"/>
                </a:ext>
              </a:extLst>
            </p:cNvPr>
            <p:cNvCxnSpPr/>
            <p:nvPr/>
          </p:nvCxnSpPr>
          <p:spPr>
            <a:xfrm>
              <a:off x="4079776" y="3610883"/>
              <a:ext cx="936104" cy="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E33FF1-BA71-78AE-611A-0832841AA617}"/>
                </a:ext>
              </a:extLst>
            </p:cNvPr>
            <p:cNvCxnSpPr/>
            <p:nvPr/>
          </p:nvCxnSpPr>
          <p:spPr>
            <a:xfrm>
              <a:off x="3287688" y="3610883"/>
              <a:ext cx="72008" cy="0"/>
            </a:xfrm>
            <a:prstGeom prst="line">
              <a:avLst/>
            </a:prstGeom>
            <a:ln w="762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54A4253-A63B-59E6-BF31-10CA195B6F78}"/>
                </a:ext>
              </a:extLst>
            </p:cNvPr>
            <p:cNvCxnSpPr/>
            <p:nvPr/>
          </p:nvCxnSpPr>
          <p:spPr>
            <a:xfrm>
              <a:off x="4727848" y="3610883"/>
              <a:ext cx="288032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1339457-D93F-9297-19E8-50267491D194}"/>
                </a:ext>
              </a:extLst>
            </p:cNvPr>
            <p:cNvSpPr txBox="1"/>
            <p:nvPr/>
          </p:nvSpPr>
          <p:spPr>
            <a:xfrm>
              <a:off x="7392144" y="3419708"/>
              <a:ext cx="1589456" cy="3280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Spliced mapping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89A9C2B-9618-BE88-E8AB-FA2AA738822F}"/>
                </a:ext>
              </a:extLst>
            </p:cNvPr>
            <p:cNvCxnSpPr/>
            <p:nvPr/>
          </p:nvCxnSpPr>
          <p:spPr>
            <a:xfrm>
              <a:off x="4007768" y="3606924"/>
              <a:ext cx="144016" cy="0"/>
            </a:xfrm>
            <a:prstGeom prst="line">
              <a:avLst/>
            </a:prstGeom>
            <a:ln w="762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82E0D6F1-8B9B-4E25-7564-84BDB99C64A2}"/>
              </a:ext>
            </a:extLst>
          </p:cNvPr>
          <p:cNvSpPr txBox="1"/>
          <p:nvPr/>
        </p:nvSpPr>
        <p:spPr>
          <a:xfrm>
            <a:off x="372143" y="380901"/>
            <a:ext cx="69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3. 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Alignment</a:t>
            </a:r>
            <a:endParaRPr lang="es-ES" sz="28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854A20-FDB3-0981-12A1-C7699665EB14}"/>
              </a:ext>
            </a:extLst>
          </p:cNvPr>
          <p:cNvSpPr txBox="1"/>
          <p:nvPr/>
        </p:nvSpPr>
        <p:spPr>
          <a:xfrm>
            <a:off x="555668" y="4535649"/>
            <a:ext cx="34342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Splice-aware software:</a:t>
            </a:r>
          </a:p>
          <a:p>
            <a:pPr marL="342900" indent="-342900">
              <a:buFontTx/>
              <a:buChar char="-"/>
            </a:pPr>
            <a:r>
              <a:rPr lang="en-GB" sz="2000" dirty="0"/>
              <a:t>HISAT2</a:t>
            </a:r>
          </a:p>
          <a:p>
            <a:pPr marL="342900" indent="-342900">
              <a:buFontTx/>
              <a:buChar char="-"/>
            </a:pPr>
            <a:r>
              <a:rPr lang="en-GB" sz="2000" dirty="0"/>
              <a:t>STAR</a:t>
            </a:r>
          </a:p>
          <a:p>
            <a:pPr marL="342900" indent="-342900">
              <a:buFontTx/>
              <a:buChar char="-"/>
            </a:pPr>
            <a:r>
              <a:rPr lang="en-GB" sz="2000" dirty="0"/>
              <a:t>…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397DDA-A8D1-6E98-8E52-1B03982CE69F}"/>
              </a:ext>
            </a:extLst>
          </p:cNvPr>
          <p:cNvSpPr/>
          <p:nvPr/>
        </p:nvSpPr>
        <p:spPr>
          <a:xfrm>
            <a:off x="8182466" y="2950134"/>
            <a:ext cx="3478491" cy="1296274"/>
          </a:xfrm>
          <a:prstGeom prst="rect">
            <a:avLst/>
          </a:prstGeom>
          <a:noFill/>
          <a:ln>
            <a:solidFill>
              <a:srgbClr val="AB050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234A0FB-3543-3ABE-9BE2-E7D962538F1F}"/>
              </a:ext>
            </a:extLst>
          </p:cNvPr>
          <p:cNvCxnSpPr>
            <a:cxnSpLocks/>
          </p:cNvCxnSpPr>
          <p:nvPr/>
        </p:nvCxnSpPr>
        <p:spPr>
          <a:xfrm flipV="1">
            <a:off x="9898145" y="4378750"/>
            <a:ext cx="0" cy="461914"/>
          </a:xfrm>
          <a:prstGeom prst="straightConnector1">
            <a:avLst/>
          </a:prstGeom>
          <a:ln w="76200">
            <a:solidFill>
              <a:srgbClr val="AB050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9CB7E4E-D528-0B9B-5272-9E1951DCAAC5}"/>
              </a:ext>
            </a:extLst>
          </p:cNvPr>
          <p:cNvSpPr txBox="1"/>
          <p:nvPr/>
        </p:nvSpPr>
        <p:spPr>
          <a:xfrm>
            <a:off x="8667957" y="4905800"/>
            <a:ext cx="2526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Discarded by non-splice-aware software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266194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C54CBF-1CE3-565C-7320-7B83E046876F}"/>
              </a:ext>
            </a:extLst>
          </p:cNvPr>
          <p:cNvSpPr txBox="1"/>
          <p:nvPr/>
        </p:nvSpPr>
        <p:spPr>
          <a:xfrm>
            <a:off x="372143" y="380901"/>
            <a:ext cx="69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4. 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Reads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 per gene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quantification</a:t>
            </a:r>
            <a:endParaRPr lang="es-ES" sz="2800" b="1" dirty="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455C822-4794-4364-2155-2FC15F0DB6C7}"/>
              </a:ext>
            </a:extLst>
          </p:cNvPr>
          <p:cNvGrpSpPr/>
          <p:nvPr/>
        </p:nvGrpSpPr>
        <p:grpSpPr>
          <a:xfrm>
            <a:off x="3298961" y="2883570"/>
            <a:ext cx="5285715" cy="1415829"/>
            <a:chOff x="2977148" y="1578025"/>
            <a:chExt cx="5285715" cy="1415829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F2C4F02-8C4D-391B-091F-E65817AD1042}"/>
                </a:ext>
              </a:extLst>
            </p:cNvPr>
            <p:cNvCxnSpPr/>
            <p:nvPr/>
          </p:nvCxnSpPr>
          <p:spPr>
            <a:xfrm>
              <a:off x="3536954" y="1762783"/>
              <a:ext cx="2507810" cy="0"/>
            </a:xfrm>
            <a:prstGeom prst="line">
              <a:avLst/>
            </a:prstGeom>
            <a:ln>
              <a:solidFill>
                <a:srgbClr val="0036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DF36769-CC4D-4420-DBC2-9D101DFF834C}"/>
                </a:ext>
              </a:extLst>
            </p:cNvPr>
            <p:cNvSpPr/>
            <p:nvPr/>
          </p:nvSpPr>
          <p:spPr>
            <a:xfrm>
              <a:off x="2977148" y="1621794"/>
              <a:ext cx="899877" cy="252885"/>
            </a:xfrm>
            <a:prstGeom prst="rect">
              <a:avLst/>
            </a:prstGeom>
            <a:solidFill>
              <a:srgbClr val="0036A2"/>
            </a:solidFill>
            <a:ln>
              <a:solidFill>
                <a:srgbClr val="0036A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4A4D3EF-C8BA-B2D8-B2F1-36C965C72BB4}"/>
                </a:ext>
              </a:extLst>
            </p:cNvPr>
            <p:cNvSpPr/>
            <p:nvPr/>
          </p:nvSpPr>
          <p:spPr>
            <a:xfrm>
              <a:off x="4181825" y="1621793"/>
              <a:ext cx="899877" cy="252885"/>
            </a:xfrm>
            <a:prstGeom prst="rect">
              <a:avLst/>
            </a:prstGeom>
            <a:solidFill>
              <a:srgbClr val="0036A2"/>
            </a:solidFill>
            <a:ln>
              <a:solidFill>
                <a:srgbClr val="0036A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9684781-6560-AFF1-96C0-B9168B2B6EFD}"/>
                </a:ext>
              </a:extLst>
            </p:cNvPr>
            <p:cNvSpPr/>
            <p:nvPr/>
          </p:nvSpPr>
          <p:spPr>
            <a:xfrm>
              <a:off x="5445915" y="1621793"/>
              <a:ext cx="899877" cy="252885"/>
            </a:xfrm>
            <a:prstGeom prst="rect">
              <a:avLst/>
            </a:prstGeom>
            <a:solidFill>
              <a:srgbClr val="0036A2"/>
            </a:solidFill>
            <a:ln>
              <a:solidFill>
                <a:srgbClr val="0036A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456C39B-3D65-D220-DAE5-315364D59475}"/>
                </a:ext>
              </a:extLst>
            </p:cNvPr>
            <p:cNvSpPr/>
            <p:nvPr/>
          </p:nvSpPr>
          <p:spPr>
            <a:xfrm>
              <a:off x="2977148" y="2154533"/>
              <a:ext cx="3368644" cy="252885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6E455FB-D184-F752-7A10-9E61FC99DD8A}"/>
                </a:ext>
              </a:extLst>
            </p:cNvPr>
            <p:cNvSpPr/>
            <p:nvPr/>
          </p:nvSpPr>
          <p:spPr>
            <a:xfrm>
              <a:off x="2977148" y="2670719"/>
              <a:ext cx="899877" cy="252885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902A984-554E-47AD-AE23-ADD68F0A2F19}"/>
                </a:ext>
              </a:extLst>
            </p:cNvPr>
            <p:cNvSpPr/>
            <p:nvPr/>
          </p:nvSpPr>
          <p:spPr>
            <a:xfrm>
              <a:off x="4181824" y="2670719"/>
              <a:ext cx="899877" cy="252885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07A61FB-D347-4F0A-9B97-08C6E9133970}"/>
                </a:ext>
              </a:extLst>
            </p:cNvPr>
            <p:cNvSpPr/>
            <p:nvPr/>
          </p:nvSpPr>
          <p:spPr>
            <a:xfrm>
              <a:off x="5445914" y="2670719"/>
              <a:ext cx="899877" cy="252885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D60147D-D9E8-2CB7-9997-A45184600C58}"/>
                </a:ext>
              </a:extLst>
            </p:cNvPr>
            <p:cNvSpPr txBox="1"/>
            <p:nvPr/>
          </p:nvSpPr>
          <p:spPr>
            <a:xfrm>
              <a:off x="6463366" y="2105409"/>
              <a:ext cx="14328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dirty="0">
                  <a:solidFill>
                    <a:schemeClr val="tx2">
                      <a:lumMod val="50000"/>
                    </a:schemeClr>
                  </a:solidFill>
                </a:rPr>
                <a:t>--</a:t>
              </a:r>
              <a:r>
                <a:rPr lang="es-ES" dirty="0" err="1">
                  <a:solidFill>
                    <a:schemeClr val="tx2">
                      <a:lumMod val="50000"/>
                    </a:schemeClr>
                  </a:solidFill>
                </a:rPr>
                <a:t>type</a:t>
              </a:r>
              <a:r>
                <a:rPr lang="es-ES" dirty="0">
                  <a:solidFill>
                    <a:schemeClr val="tx2">
                      <a:lumMod val="50000"/>
                    </a:schemeClr>
                  </a:solidFill>
                </a:rPr>
                <a:t> gene</a:t>
              </a:r>
              <a:endParaRPr lang="es-E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5AC960B-1F74-919D-5716-380A8CAAFD5D}"/>
                </a:ext>
              </a:extLst>
            </p:cNvPr>
            <p:cNvSpPr txBox="1"/>
            <p:nvPr/>
          </p:nvSpPr>
          <p:spPr>
            <a:xfrm>
              <a:off x="6457074" y="2624522"/>
              <a:ext cx="14328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dirty="0">
                  <a:solidFill>
                    <a:schemeClr val="tx2">
                      <a:lumMod val="50000"/>
                    </a:schemeClr>
                  </a:solidFill>
                </a:rPr>
                <a:t>--</a:t>
              </a:r>
              <a:r>
                <a:rPr lang="es-ES" dirty="0" err="1">
                  <a:solidFill>
                    <a:schemeClr val="tx2">
                      <a:lumMod val="50000"/>
                    </a:schemeClr>
                  </a:solidFill>
                </a:rPr>
                <a:t>type</a:t>
              </a:r>
              <a:r>
                <a:rPr lang="es-ES" dirty="0">
                  <a:solidFill>
                    <a:schemeClr val="tx2">
                      <a:lumMod val="50000"/>
                    </a:schemeClr>
                  </a:solidFill>
                </a:rPr>
                <a:t> </a:t>
              </a:r>
              <a:r>
                <a:rPr lang="es-ES" dirty="0" err="1">
                  <a:solidFill>
                    <a:schemeClr val="tx2">
                      <a:lumMod val="50000"/>
                    </a:schemeClr>
                  </a:solidFill>
                </a:rPr>
                <a:t>exon</a:t>
              </a:r>
              <a:endParaRPr lang="es-E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60C0A19-15BA-3232-FEDE-A4CFEA2022E8}"/>
                </a:ext>
              </a:extLst>
            </p:cNvPr>
            <p:cNvSpPr txBox="1"/>
            <p:nvPr/>
          </p:nvSpPr>
          <p:spPr>
            <a:xfrm>
              <a:off x="6457074" y="1578025"/>
              <a:ext cx="180578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dirty="0">
                  <a:solidFill>
                    <a:schemeClr val="tx2">
                      <a:lumMod val="50000"/>
                    </a:schemeClr>
                  </a:solidFill>
                </a:rPr>
                <a:t>Gen en el GTF</a:t>
              </a:r>
              <a:endParaRPr lang="es-E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B6A18BE-8DB6-E8A2-48AF-D421EFCD512C}"/>
                </a:ext>
              </a:extLst>
            </p:cNvPr>
            <p:cNvSpPr txBox="1"/>
            <p:nvPr/>
          </p:nvSpPr>
          <p:spPr>
            <a:xfrm>
              <a:off x="3905693" y="2612495"/>
              <a:ext cx="3355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+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E7CCBA4-F1B4-DDE2-5548-4B93AE45430E}"/>
                </a:ext>
              </a:extLst>
            </p:cNvPr>
            <p:cNvSpPr txBox="1"/>
            <p:nvPr/>
          </p:nvSpPr>
          <p:spPr>
            <a:xfrm>
              <a:off x="5125176" y="2612495"/>
              <a:ext cx="3355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+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6840EBBB-9EDA-0AF7-D9A8-1968673D58D4}"/>
              </a:ext>
            </a:extLst>
          </p:cNvPr>
          <p:cNvSpPr txBox="1"/>
          <p:nvPr/>
        </p:nvSpPr>
        <p:spPr>
          <a:xfrm>
            <a:off x="512481" y="1315564"/>
            <a:ext cx="7169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Counting the number of reads per gene (sum of reads per exons)</a:t>
            </a:r>
          </a:p>
        </p:txBody>
      </p:sp>
    </p:spTree>
    <p:extLst>
      <p:ext uri="{BB962C8B-B14F-4D97-AF65-F5344CB8AC3E}">
        <p14:creationId xmlns:p14="http://schemas.microsoft.com/office/powerpoint/2010/main" val="2636370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06104-3E44-971F-F3E7-BF871F3EF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E83793-C788-6099-0711-34EC261CEB43}"/>
              </a:ext>
            </a:extLst>
          </p:cNvPr>
          <p:cNvSpPr txBox="1"/>
          <p:nvPr/>
        </p:nvSpPr>
        <p:spPr>
          <a:xfrm>
            <a:off x="372143" y="380901"/>
            <a:ext cx="69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5. 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Differential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expression</a:t>
            </a:r>
            <a:endParaRPr lang="es-ES" sz="28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7B8DDE-C4CF-98EA-C15D-47871F14291E}"/>
              </a:ext>
            </a:extLst>
          </p:cNvPr>
          <p:cNvSpPr txBox="1"/>
          <p:nvPr/>
        </p:nvSpPr>
        <p:spPr>
          <a:xfrm>
            <a:off x="372143" y="1144513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solidFill>
                  <a:schemeClr val="tx2">
                    <a:lumMod val="50000"/>
                  </a:schemeClr>
                </a:solidFill>
              </a:rPr>
              <a:t>5.1. </a:t>
            </a:r>
            <a:r>
              <a:rPr lang="es-ES" sz="1800" b="1" dirty="0" err="1">
                <a:solidFill>
                  <a:schemeClr val="tx2">
                    <a:lumMod val="50000"/>
                  </a:schemeClr>
                </a:solidFill>
              </a:rPr>
              <a:t>Read</a:t>
            </a:r>
            <a:r>
              <a:rPr lang="es-ES" sz="1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ES" sz="1800" b="1" dirty="0" err="1">
                <a:solidFill>
                  <a:schemeClr val="tx2">
                    <a:lumMod val="50000"/>
                  </a:schemeClr>
                </a:solidFill>
              </a:rPr>
              <a:t>counts</a:t>
            </a:r>
            <a:r>
              <a:rPr lang="es-ES" sz="1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ES" sz="1800" b="1" dirty="0" err="1">
                <a:solidFill>
                  <a:schemeClr val="tx2">
                    <a:lumMod val="50000"/>
                  </a:schemeClr>
                </a:solidFill>
              </a:rPr>
              <a:t>normalization</a:t>
            </a:r>
            <a:endParaRPr lang="es-ES" dirty="0"/>
          </a:p>
        </p:txBody>
      </p:sp>
      <p:pic>
        <p:nvPicPr>
          <p:cNvPr id="4" name="Picture 3" descr="A diagram of a gene sequence&#10;&#10;AI-generated content may be incorrect.">
            <a:extLst>
              <a:ext uri="{FF2B5EF4-FFF2-40B4-BE49-F238E27FC236}">
                <a16:creationId xmlns:a16="http://schemas.microsoft.com/office/drawing/2014/main" id="{248F3788-C801-42BF-988A-330C8282B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189" y="2872082"/>
            <a:ext cx="2838450" cy="23145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A9FF61-271A-D203-7E25-6F914FA58CDE}"/>
              </a:ext>
            </a:extLst>
          </p:cNvPr>
          <p:cNvSpPr txBox="1"/>
          <p:nvPr/>
        </p:nvSpPr>
        <p:spPr>
          <a:xfrm>
            <a:off x="7682707" y="2354607"/>
            <a:ext cx="2589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Gene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length</a:t>
            </a:r>
            <a:endParaRPr lang="es-ES" dirty="0">
              <a:solidFill>
                <a:schemeClr val="tx2">
                  <a:lumMod val="75000"/>
                </a:schemeClr>
              </a:solidFill>
              <a:sym typeface="Palatino"/>
            </a:endParaRPr>
          </a:p>
        </p:txBody>
      </p:sp>
      <p:pic>
        <p:nvPicPr>
          <p:cNvPr id="6" name="Picture 5" descr="A diagram of a dna sequence&#10;&#10;AI-generated content may be incorrect.">
            <a:extLst>
              <a:ext uri="{FF2B5EF4-FFF2-40B4-BE49-F238E27FC236}">
                <a16:creationId xmlns:a16="http://schemas.microsoft.com/office/drawing/2014/main" id="{A0F9941F-57FA-B054-0B15-FD5D1FA87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900" y="2354607"/>
            <a:ext cx="5857875" cy="3171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C8ED97-F60C-DC34-0FBC-E7A19991C49A}"/>
              </a:ext>
            </a:extLst>
          </p:cNvPr>
          <p:cNvSpPr txBox="1"/>
          <p:nvPr/>
        </p:nvSpPr>
        <p:spPr>
          <a:xfrm>
            <a:off x="633029" y="1875411"/>
            <a:ext cx="2589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Sequencing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depth</a:t>
            </a:r>
            <a:endParaRPr lang="es-ES" dirty="0">
              <a:solidFill>
                <a:schemeClr val="tx2">
                  <a:lumMod val="75000"/>
                </a:schemeClr>
              </a:solidFill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1877665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8C934-A63C-9DFC-5E22-C84DEBEC8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5F8531-E099-130D-A2DC-B112A12D600C}"/>
              </a:ext>
            </a:extLst>
          </p:cNvPr>
          <p:cNvSpPr txBox="1"/>
          <p:nvPr/>
        </p:nvSpPr>
        <p:spPr>
          <a:xfrm>
            <a:off x="372143" y="380901"/>
            <a:ext cx="69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5. 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Differential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expression</a:t>
            </a:r>
            <a:endParaRPr lang="es-ES" sz="28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BD238A-F322-37B8-E3DE-11BBE10E09E6}"/>
              </a:ext>
            </a:extLst>
          </p:cNvPr>
          <p:cNvSpPr txBox="1"/>
          <p:nvPr/>
        </p:nvSpPr>
        <p:spPr>
          <a:xfrm>
            <a:off x="372143" y="1144513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solidFill>
                  <a:schemeClr val="tx2">
                    <a:lumMod val="50000"/>
                  </a:schemeClr>
                </a:solidFill>
              </a:rPr>
              <a:t>5.1. </a:t>
            </a:r>
            <a:r>
              <a:rPr lang="es-ES" sz="1800" b="1" dirty="0" err="1">
                <a:solidFill>
                  <a:schemeClr val="tx2">
                    <a:lumMod val="50000"/>
                  </a:schemeClr>
                </a:solidFill>
              </a:rPr>
              <a:t>Read</a:t>
            </a:r>
            <a:r>
              <a:rPr lang="es-ES" sz="1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ES" sz="1800" b="1" dirty="0" err="1">
                <a:solidFill>
                  <a:schemeClr val="tx2">
                    <a:lumMod val="50000"/>
                  </a:schemeClr>
                </a:solidFill>
              </a:rPr>
              <a:t>counts</a:t>
            </a:r>
            <a:r>
              <a:rPr lang="es-ES" sz="1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ES" sz="1800" b="1" dirty="0" err="1">
                <a:solidFill>
                  <a:schemeClr val="tx2">
                    <a:lumMod val="50000"/>
                  </a:schemeClr>
                </a:solidFill>
              </a:rPr>
              <a:t>normalization</a:t>
            </a:r>
            <a:endParaRPr lang="es-ES" dirty="0"/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35E7573-9CDC-DDF0-E38F-9A9BEFCCD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89" y="2378893"/>
            <a:ext cx="4172935" cy="4000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2C25B4-C868-7D64-63A0-D7D3E4CCC7E6}"/>
              </a:ext>
            </a:extLst>
          </p:cNvPr>
          <p:cNvSpPr txBox="1"/>
          <p:nvPr/>
        </p:nvSpPr>
        <p:spPr>
          <a:xfrm>
            <a:off x="372143" y="1727235"/>
            <a:ext cx="2589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RNA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composition</a:t>
            </a:r>
            <a:endParaRPr lang="es-ES" dirty="0">
              <a:solidFill>
                <a:schemeClr val="tx2">
                  <a:lumMod val="75000"/>
                </a:schemeClr>
              </a:solidFill>
              <a:sym typeface="Palatino"/>
            </a:endParaRPr>
          </a:p>
        </p:txBody>
      </p:sp>
      <p:sp>
        <p:nvSpPr>
          <p:cNvPr id="8" name="Free-form: Shape 7">
            <a:extLst>
              <a:ext uri="{FF2B5EF4-FFF2-40B4-BE49-F238E27FC236}">
                <a16:creationId xmlns:a16="http://schemas.microsoft.com/office/drawing/2014/main" id="{E83174A7-517A-34D4-EB4D-FEBEF9AE2979}"/>
              </a:ext>
            </a:extLst>
          </p:cNvPr>
          <p:cNvSpPr/>
          <p:nvPr/>
        </p:nvSpPr>
        <p:spPr>
          <a:xfrm>
            <a:off x="6928701" y="2334700"/>
            <a:ext cx="1215014" cy="857539"/>
          </a:xfrm>
          <a:custGeom>
            <a:avLst/>
            <a:gdLst>
              <a:gd name="csX0" fmla="*/ 405353 w 1215014"/>
              <a:gd name="csY0" fmla="*/ 9049 h 857539"/>
              <a:gd name="csX1" fmla="*/ 113122 w 1215014"/>
              <a:gd name="csY1" fmla="*/ 112744 h 857539"/>
              <a:gd name="csX2" fmla="*/ 0 w 1215014"/>
              <a:gd name="csY2" fmla="*/ 376695 h 857539"/>
              <a:gd name="csX3" fmla="*/ 113122 w 1215014"/>
              <a:gd name="csY3" fmla="*/ 687779 h 857539"/>
              <a:gd name="csX4" fmla="*/ 518475 w 1215014"/>
              <a:gd name="csY4" fmla="*/ 857462 h 857539"/>
              <a:gd name="csX5" fmla="*/ 1121790 w 1215014"/>
              <a:gd name="csY5" fmla="*/ 668926 h 857539"/>
              <a:gd name="csX6" fmla="*/ 1187778 w 1215014"/>
              <a:gd name="csY6" fmla="*/ 282427 h 857539"/>
              <a:gd name="csX7" fmla="*/ 867266 w 1215014"/>
              <a:gd name="csY7" fmla="*/ 37330 h 857539"/>
              <a:gd name="csX8" fmla="*/ 405353 w 1215014"/>
              <a:gd name="csY8" fmla="*/ 9049 h 8575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15014" h="857539">
                <a:moveTo>
                  <a:pt x="405353" y="9049"/>
                </a:moveTo>
                <a:cubicBezTo>
                  <a:pt x="279662" y="21618"/>
                  <a:pt x="180681" y="51470"/>
                  <a:pt x="113122" y="112744"/>
                </a:cubicBezTo>
                <a:cubicBezTo>
                  <a:pt x="45563" y="174018"/>
                  <a:pt x="0" y="280856"/>
                  <a:pt x="0" y="376695"/>
                </a:cubicBezTo>
                <a:cubicBezTo>
                  <a:pt x="0" y="472534"/>
                  <a:pt x="26709" y="607651"/>
                  <a:pt x="113122" y="687779"/>
                </a:cubicBezTo>
                <a:cubicBezTo>
                  <a:pt x="199535" y="767907"/>
                  <a:pt x="350364" y="860604"/>
                  <a:pt x="518475" y="857462"/>
                </a:cubicBezTo>
                <a:cubicBezTo>
                  <a:pt x="686586" y="854320"/>
                  <a:pt x="1010240" y="764765"/>
                  <a:pt x="1121790" y="668926"/>
                </a:cubicBezTo>
                <a:cubicBezTo>
                  <a:pt x="1233340" y="573087"/>
                  <a:pt x="1230199" y="387693"/>
                  <a:pt x="1187778" y="282427"/>
                </a:cubicBezTo>
                <a:cubicBezTo>
                  <a:pt x="1145357" y="177161"/>
                  <a:pt x="997670" y="84464"/>
                  <a:pt x="867266" y="37330"/>
                </a:cubicBezTo>
                <a:cubicBezTo>
                  <a:pt x="736862" y="-9804"/>
                  <a:pt x="531044" y="-3520"/>
                  <a:pt x="405353" y="9049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29559348-722E-E3C7-82F7-54DA3342536D}"/>
              </a:ext>
            </a:extLst>
          </p:cNvPr>
          <p:cNvSpPr/>
          <p:nvPr/>
        </p:nvSpPr>
        <p:spPr>
          <a:xfrm>
            <a:off x="9668185" y="2334000"/>
            <a:ext cx="1215014" cy="857539"/>
          </a:xfrm>
          <a:custGeom>
            <a:avLst/>
            <a:gdLst>
              <a:gd name="csX0" fmla="*/ 405353 w 1215014"/>
              <a:gd name="csY0" fmla="*/ 9049 h 857539"/>
              <a:gd name="csX1" fmla="*/ 113122 w 1215014"/>
              <a:gd name="csY1" fmla="*/ 112744 h 857539"/>
              <a:gd name="csX2" fmla="*/ 0 w 1215014"/>
              <a:gd name="csY2" fmla="*/ 376695 h 857539"/>
              <a:gd name="csX3" fmla="*/ 113122 w 1215014"/>
              <a:gd name="csY3" fmla="*/ 687779 h 857539"/>
              <a:gd name="csX4" fmla="*/ 518475 w 1215014"/>
              <a:gd name="csY4" fmla="*/ 857462 h 857539"/>
              <a:gd name="csX5" fmla="*/ 1121790 w 1215014"/>
              <a:gd name="csY5" fmla="*/ 668926 h 857539"/>
              <a:gd name="csX6" fmla="*/ 1187778 w 1215014"/>
              <a:gd name="csY6" fmla="*/ 282427 h 857539"/>
              <a:gd name="csX7" fmla="*/ 867266 w 1215014"/>
              <a:gd name="csY7" fmla="*/ 37330 h 857539"/>
              <a:gd name="csX8" fmla="*/ 405353 w 1215014"/>
              <a:gd name="csY8" fmla="*/ 9049 h 8575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15014" h="857539">
                <a:moveTo>
                  <a:pt x="405353" y="9049"/>
                </a:moveTo>
                <a:cubicBezTo>
                  <a:pt x="279662" y="21618"/>
                  <a:pt x="180681" y="51470"/>
                  <a:pt x="113122" y="112744"/>
                </a:cubicBezTo>
                <a:cubicBezTo>
                  <a:pt x="45563" y="174018"/>
                  <a:pt x="0" y="280856"/>
                  <a:pt x="0" y="376695"/>
                </a:cubicBezTo>
                <a:cubicBezTo>
                  <a:pt x="0" y="472534"/>
                  <a:pt x="26709" y="607651"/>
                  <a:pt x="113122" y="687779"/>
                </a:cubicBezTo>
                <a:cubicBezTo>
                  <a:pt x="199535" y="767907"/>
                  <a:pt x="350364" y="860604"/>
                  <a:pt x="518475" y="857462"/>
                </a:cubicBezTo>
                <a:cubicBezTo>
                  <a:pt x="686586" y="854320"/>
                  <a:pt x="1010240" y="764765"/>
                  <a:pt x="1121790" y="668926"/>
                </a:cubicBezTo>
                <a:cubicBezTo>
                  <a:pt x="1233340" y="573087"/>
                  <a:pt x="1230199" y="387693"/>
                  <a:pt x="1187778" y="282427"/>
                </a:cubicBezTo>
                <a:cubicBezTo>
                  <a:pt x="1145357" y="177161"/>
                  <a:pt x="997670" y="84464"/>
                  <a:pt x="867266" y="37330"/>
                </a:cubicBezTo>
                <a:cubicBezTo>
                  <a:pt x="736862" y="-9804"/>
                  <a:pt x="531044" y="-3520"/>
                  <a:pt x="405353" y="9049"/>
                </a:cubicBezTo>
                <a:close/>
              </a:path>
            </a:pathLst>
          </a:custGeom>
          <a:solidFill>
            <a:srgbClr val="89CED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6EB641B-0CEC-CC81-11DA-61142A98796B}"/>
              </a:ext>
            </a:extLst>
          </p:cNvPr>
          <p:cNvSpPr/>
          <p:nvPr/>
        </p:nvSpPr>
        <p:spPr>
          <a:xfrm>
            <a:off x="7234551" y="2628449"/>
            <a:ext cx="301657" cy="26782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774D8FF-2B9E-7029-0178-68DE10EF02B0}"/>
              </a:ext>
            </a:extLst>
          </p:cNvPr>
          <p:cNvSpPr/>
          <p:nvPr/>
        </p:nvSpPr>
        <p:spPr>
          <a:xfrm>
            <a:off x="9974035" y="2695808"/>
            <a:ext cx="301657" cy="26782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BDE399-2D1F-88DB-760D-79DA2860C130}"/>
              </a:ext>
            </a:extLst>
          </p:cNvPr>
          <p:cNvSpPr txBox="1"/>
          <p:nvPr/>
        </p:nvSpPr>
        <p:spPr>
          <a:xfrm>
            <a:off x="5275870" y="3429000"/>
            <a:ext cx="67810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Gene A: 		10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transcripts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	(10%)		10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transcripts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 (50%)</a:t>
            </a:r>
          </a:p>
          <a:p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Gene B: 		10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transcripts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	(10%)		10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transcripts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 (50%)</a:t>
            </a:r>
          </a:p>
          <a:p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Gene C: 		80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transcripts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	(80%)		no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expressed</a:t>
            </a:r>
            <a:endParaRPr lang="es-ES" dirty="0">
              <a:solidFill>
                <a:schemeClr val="tx2">
                  <a:lumMod val="75000"/>
                </a:schemeClr>
              </a:solidFill>
              <a:sym typeface="Palatin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EFAF17-DAC6-92E5-1214-2C4AE45F47C5}"/>
              </a:ext>
            </a:extLst>
          </p:cNvPr>
          <p:cNvSpPr txBox="1"/>
          <p:nvPr/>
        </p:nvSpPr>
        <p:spPr>
          <a:xfrm>
            <a:off x="6765305" y="4791985"/>
            <a:ext cx="44525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We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sequence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the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two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cells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with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 10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reads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 (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same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number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of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 total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reads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C7D28D-104F-74C1-91F8-68F81921128C}"/>
              </a:ext>
            </a:extLst>
          </p:cNvPr>
          <p:cNvSpPr txBox="1"/>
          <p:nvPr/>
        </p:nvSpPr>
        <p:spPr>
          <a:xfrm>
            <a:off x="6733309" y="5763417"/>
            <a:ext cx="44525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Gene A and B are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expressed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 5 more times in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the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 blue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cell</a:t>
            </a:r>
            <a:endParaRPr lang="es-ES" dirty="0">
              <a:solidFill>
                <a:schemeClr val="tx2">
                  <a:lumMod val="75000"/>
                </a:schemeClr>
              </a:solidFill>
              <a:sym typeface="Palatino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6EE8C5-20B8-25E8-39D2-F08588397140}"/>
              </a:ext>
            </a:extLst>
          </p:cNvPr>
          <p:cNvSpPr txBox="1"/>
          <p:nvPr/>
        </p:nvSpPr>
        <p:spPr>
          <a:xfrm>
            <a:off x="6885709" y="1911901"/>
            <a:ext cx="1258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Orange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cell</a:t>
            </a:r>
            <a:endParaRPr lang="es-ES" dirty="0">
              <a:solidFill>
                <a:schemeClr val="tx2">
                  <a:lumMod val="75000"/>
                </a:schemeClr>
              </a:solidFill>
              <a:sym typeface="Palatin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7776CB-F8D7-B4BB-AC66-49BF89BABA4D}"/>
              </a:ext>
            </a:extLst>
          </p:cNvPr>
          <p:cNvSpPr txBox="1"/>
          <p:nvPr/>
        </p:nvSpPr>
        <p:spPr>
          <a:xfrm>
            <a:off x="9668185" y="1886821"/>
            <a:ext cx="1258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75000"/>
                  </a:schemeClr>
                </a:solidFill>
                <a:sym typeface="Palatino"/>
              </a:rPr>
              <a:t>Blue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sym typeface="Palatino"/>
              </a:rPr>
              <a:t>cell</a:t>
            </a:r>
            <a:endParaRPr lang="es-ES" dirty="0">
              <a:solidFill>
                <a:schemeClr val="tx2">
                  <a:lumMod val="75000"/>
                </a:schemeClr>
              </a:solidFill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655499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grid with black text&#10;&#10;AI-generated content may be incorrect.">
            <a:extLst>
              <a:ext uri="{FF2B5EF4-FFF2-40B4-BE49-F238E27FC236}">
                <a16:creationId xmlns:a16="http://schemas.microsoft.com/office/drawing/2014/main" id="{F0A6CD35-CFF6-D741-CA23-685E7C69C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367" y="581025"/>
            <a:ext cx="4829778" cy="5695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61D7D6-49EA-79AE-D837-18D81AFF776B}"/>
              </a:ext>
            </a:extLst>
          </p:cNvPr>
          <p:cNvSpPr txBox="1"/>
          <p:nvPr/>
        </p:nvSpPr>
        <p:spPr>
          <a:xfrm>
            <a:off x="372143" y="380901"/>
            <a:ext cx="69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5. 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Differential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expression</a:t>
            </a:r>
            <a:endParaRPr lang="es-ES" sz="28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2B7412-71D5-8932-0D39-956279394491}"/>
              </a:ext>
            </a:extLst>
          </p:cNvPr>
          <p:cNvSpPr txBox="1"/>
          <p:nvPr/>
        </p:nvSpPr>
        <p:spPr>
          <a:xfrm>
            <a:off x="372143" y="1144513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solidFill>
                  <a:schemeClr val="tx2">
                    <a:lumMod val="50000"/>
                  </a:schemeClr>
                </a:solidFill>
              </a:rPr>
              <a:t>5.1. </a:t>
            </a:r>
            <a:r>
              <a:rPr lang="es-ES" sz="1800" b="1" dirty="0" err="1">
                <a:solidFill>
                  <a:schemeClr val="tx2">
                    <a:lumMod val="50000"/>
                  </a:schemeClr>
                </a:solidFill>
              </a:rPr>
              <a:t>Read</a:t>
            </a:r>
            <a:r>
              <a:rPr lang="es-ES" sz="1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ES" sz="1800" b="1" dirty="0" err="1">
                <a:solidFill>
                  <a:schemeClr val="tx2">
                    <a:lumMod val="50000"/>
                  </a:schemeClr>
                </a:solidFill>
              </a:rPr>
              <a:t>counts</a:t>
            </a:r>
            <a:r>
              <a:rPr lang="es-ES" sz="1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ES" sz="1800" b="1" dirty="0" err="1">
                <a:solidFill>
                  <a:schemeClr val="tx2">
                    <a:lumMod val="50000"/>
                  </a:schemeClr>
                </a:solidFill>
              </a:rPr>
              <a:t>normalization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553917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0994DBC-B5F4-49A6-9E80-82929CD5DB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01" y="5120234"/>
            <a:ext cx="2880091" cy="74203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7952E41-8D41-4245-A5C1-E5258EA01F82}"/>
              </a:ext>
            </a:extLst>
          </p:cNvPr>
          <p:cNvSpPr txBox="1"/>
          <p:nvPr/>
        </p:nvSpPr>
        <p:spPr>
          <a:xfrm>
            <a:off x="2393085" y="5862272"/>
            <a:ext cx="24482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/>
              <a:t>http://geneontology.org/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6C451BE-E1C8-4833-8C77-A1A0F010562B}"/>
              </a:ext>
            </a:extLst>
          </p:cNvPr>
          <p:cNvSpPr txBox="1"/>
          <p:nvPr/>
        </p:nvSpPr>
        <p:spPr>
          <a:xfrm>
            <a:off x="5303912" y="5862272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/>
              <a:t>https://www.genome.jp/kegg/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F60A1E48-F01E-4217-BE95-25E3E35538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968" y="5005068"/>
            <a:ext cx="1219200" cy="8763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4162B2AE-41FB-49A3-B3C0-803BEB749A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192" y="5093569"/>
            <a:ext cx="1949524" cy="458712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0686FE6A-049A-47E7-B307-89E4BEB6F7C3}"/>
              </a:ext>
            </a:extLst>
          </p:cNvPr>
          <p:cNvSpPr txBox="1"/>
          <p:nvPr/>
        </p:nvSpPr>
        <p:spPr>
          <a:xfrm>
            <a:off x="8093968" y="5868707"/>
            <a:ext cx="24482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/>
              <a:t>https://reactome.org/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0585C3-128D-AABC-790F-044BCE9397E9}"/>
              </a:ext>
            </a:extLst>
          </p:cNvPr>
          <p:cNvSpPr txBox="1"/>
          <p:nvPr/>
        </p:nvSpPr>
        <p:spPr>
          <a:xfrm>
            <a:off x="372143" y="380901"/>
            <a:ext cx="64179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6.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Pathway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enrichment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analysis</a:t>
            </a:r>
            <a:endParaRPr lang="es-ES" sz="2800" b="1" dirty="0">
              <a:solidFill>
                <a:schemeClr val="tx2">
                  <a:lumMod val="50000"/>
                </a:schemeClr>
              </a:solidFill>
            </a:endParaRPr>
          </a:p>
          <a:p>
            <a:endParaRPr lang="es-ES" sz="1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13DE2A-D59F-4BCA-D488-842BFB7F7209}"/>
              </a:ext>
            </a:extLst>
          </p:cNvPr>
          <p:cNvSpPr txBox="1"/>
          <p:nvPr/>
        </p:nvSpPr>
        <p:spPr>
          <a:xfrm>
            <a:off x="372144" y="1089176"/>
            <a:ext cx="11219781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 err="1">
                <a:solidFill>
                  <a:schemeClr val="tx2">
                    <a:lumMod val="75000"/>
                  </a:schemeClr>
                </a:solidFill>
              </a:rPr>
              <a:t>Over-representation</a:t>
            </a:r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 análisis (ORA)</a:t>
            </a:r>
          </a:p>
          <a:p>
            <a:endParaRPr lang="es-ES" sz="1400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Evalúa si ciertos conjuntos de genes (gene sets, ontologías, rutas) están sobrerrepresentados en tu lista comparado con un </a:t>
            </a:r>
            <a:r>
              <a:rPr lang="es-ES" sz="1600" dirty="0" err="1">
                <a:solidFill>
                  <a:schemeClr val="tx2">
                    <a:lumMod val="75000"/>
                  </a:schemeClr>
                </a:solidFill>
              </a:rPr>
              <a:t>background</a:t>
            </a: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 de referencia (todas los genes posibles).</a:t>
            </a:r>
          </a:p>
          <a:p>
            <a:endParaRPr lang="es-ES" sz="16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s-ES" sz="1600" i="1" dirty="0">
                <a:solidFill>
                  <a:schemeClr val="tx2">
                    <a:lumMod val="75000"/>
                  </a:schemeClr>
                </a:solidFill>
              </a:rPr>
              <a:t>Input</a:t>
            </a: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: lista de genes asociados a </a:t>
            </a:r>
            <a:r>
              <a:rPr lang="es-ES" sz="1600" dirty="0" err="1">
                <a:solidFill>
                  <a:schemeClr val="tx2">
                    <a:lumMod val="75000"/>
                  </a:schemeClr>
                </a:solidFill>
              </a:rPr>
              <a:t>DARs</a:t>
            </a: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 (por ejemplo, genes cercanos a regiones accesibles diferencialmente).</a:t>
            </a:r>
          </a:p>
          <a:p>
            <a:r>
              <a:rPr lang="es-ES" sz="1600" i="1" dirty="0">
                <a:solidFill>
                  <a:schemeClr val="tx2">
                    <a:lumMod val="75000"/>
                  </a:schemeClr>
                </a:solidFill>
              </a:rPr>
              <a:t>Output</a:t>
            </a: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: listado de ontologías o rutas enriquecidas, sin considerar dirección o magnitud de cambio.</a:t>
            </a:r>
          </a:p>
          <a:p>
            <a:endParaRPr lang="es-ES" sz="1400" b="1" dirty="0">
              <a:solidFill>
                <a:schemeClr val="tx2">
                  <a:lumMod val="75000"/>
                </a:schemeClr>
              </a:solidFill>
            </a:endParaRPr>
          </a:p>
          <a:p>
            <a:endParaRPr lang="es-ES" sz="1400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Gene set </a:t>
            </a:r>
            <a:r>
              <a:rPr lang="es-ES" b="1" dirty="0" err="1">
                <a:solidFill>
                  <a:schemeClr val="tx2">
                    <a:lumMod val="75000"/>
                  </a:schemeClr>
                </a:solidFill>
              </a:rPr>
              <a:t>enrichment</a:t>
            </a:r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 análisis (GSEA)</a:t>
            </a:r>
          </a:p>
          <a:p>
            <a:endParaRPr lang="es-ES" sz="1400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s-ES" sz="1400" dirty="0">
                <a:solidFill>
                  <a:schemeClr val="tx2">
                    <a:lumMod val="75000"/>
                  </a:schemeClr>
                </a:solidFill>
              </a:rPr>
              <a:t>Ordena todos los genes por su magnitud de cambio y evalúa si los genes de un conjunto específico tienden a aparecer al inicio o al final de la lista.</a:t>
            </a:r>
          </a:p>
          <a:p>
            <a:endParaRPr lang="es-ES" sz="14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s-ES" sz="1400" i="1" dirty="0">
                <a:solidFill>
                  <a:schemeClr val="tx2">
                    <a:lumMod val="75000"/>
                  </a:schemeClr>
                </a:solidFill>
              </a:rPr>
              <a:t>Input</a:t>
            </a:r>
            <a:r>
              <a:rPr lang="es-ES" sz="1400" dirty="0">
                <a:solidFill>
                  <a:schemeClr val="tx2">
                    <a:lumMod val="75000"/>
                  </a:schemeClr>
                </a:solidFill>
              </a:rPr>
              <a:t>: lista de genes asociados a </a:t>
            </a:r>
            <a:r>
              <a:rPr lang="es-ES" sz="1400" dirty="0" err="1">
                <a:solidFill>
                  <a:schemeClr val="tx2">
                    <a:lumMod val="75000"/>
                  </a:schemeClr>
                </a:solidFill>
              </a:rPr>
              <a:t>DARs</a:t>
            </a:r>
            <a:r>
              <a:rPr lang="es-ES" sz="1400" dirty="0">
                <a:solidFill>
                  <a:schemeClr val="tx2">
                    <a:lumMod val="75000"/>
                  </a:schemeClr>
                </a:solidFill>
              </a:rPr>
              <a:t> con valores cuantitativos (p. ej., log2 </a:t>
            </a:r>
            <a:r>
              <a:rPr lang="es-ES" sz="1400" dirty="0" err="1">
                <a:solidFill>
                  <a:schemeClr val="tx2">
                    <a:lumMod val="75000"/>
                  </a:schemeClr>
                </a:solidFill>
              </a:rPr>
              <a:t>fold</a:t>
            </a:r>
            <a:r>
              <a:rPr lang="es-ES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s-ES" sz="1400" dirty="0" err="1">
                <a:solidFill>
                  <a:schemeClr val="tx2">
                    <a:lumMod val="75000"/>
                  </a:schemeClr>
                </a:solidFill>
              </a:rPr>
              <a:t>change</a:t>
            </a:r>
            <a:r>
              <a:rPr lang="es-ES" sz="1400" dirty="0">
                <a:solidFill>
                  <a:schemeClr val="tx2">
                    <a:lumMod val="75000"/>
                  </a:schemeClr>
                </a:solidFill>
              </a:rPr>
              <a:t> de accesibilidad o expresión).</a:t>
            </a:r>
          </a:p>
          <a:p>
            <a:r>
              <a:rPr lang="es-ES" sz="1400" i="1" dirty="0">
                <a:solidFill>
                  <a:schemeClr val="tx2">
                    <a:lumMod val="75000"/>
                  </a:schemeClr>
                </a:solidFill>
              </a:rPr>
              <a:t>Output</a:t>
            </a:r>
            <a:r>
              <a:rPr lang="es-ES" sz="1400" dirty="0">
                <a:solidFill>
                  <a:schemeClr val="tx2">
                    <a:lumMod val="75000"/>
                  </a:schemeClr>
                </a:solidFill>
              </a:rPr>
              <a:t>: listado de rutas o ontologías enriquecidas en genes up- o </a:t>
            </a:r>
            <a:r>
              <a:rPr lang="es-ES" sz="1400" dirty="0" err="1">
                <a:solidFill>
                  <a:schemeClr val="tx2">
                    <a:lumMod val="75000"/>
                  </a:schemeClr>
                </a:solidFill>
              </a:rPr>
              <a:t>down</a:t>
            </a:r>
            <a:r>
              <a:rPr lang="es-ES" sz="1400" dirty="0">
                <a:solidFill>
                  <a:schemeClr val="tx2">
                    <a:lumMod val="75000"/>
                  </a:schemeClr>
                </a:solidFill>
              </a:rPr>
              <a:t>-regulados, considerando dirección y magnitud del cambio</a:t>
            </a:r>
            <a:r>
              <a:rPr lang="es-ES" sz="1400" b="1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5980510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itHub - YuLab-SMU/clusterProfiler: A universal enrichment tool for  interpreting omics data">
            <a:extLst>
              <a:ext uri="{FF2B5EF4-FFF2-40B4-BE49-F238E27FC236}">
                <a16:creationId xmlns:a16="http://schemas.microsoft.com/office/drawing/2014/main" id="{230BAAB2-B8EF-4F24-B7C7-7D8F53734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1330" y="576001"/>
            <a:ext cx="718346" cy="835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Qué es R Software | Máxima Formación">
            <a:extLst>
              <a:ext uri="{FF2B5EF4-FFF2-40B4-BE49-F238E27FC236}">
                <a16:creationId xmlns:a16="http://schemas.microsoft.com/office/drawing/2014/main" id="{E95CF568-B321-4E93-BBAF-81DA963D4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8931" y="553597"/>
            <a:ext cx="954137" cy="8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33BCF33-D314-446B-9E31-CBF2B12ABE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784" y="1786809"/>
            <a:ext cx="5272136" cy="395410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235A0F-C35C-43DC-BC96-60D6D1FEA3D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42" y="1154438"/>
            <a:ext cx="6262614" cy="52188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60E17E-9FC8-E11F-CAF0-C969F62EC711}"/>
              </a:ext>
            </a:extLst>
          </p:cNvPr>
          <p:cNvSpPr txBox="1"/>
          <p:nvPr/>
        </p:nvSpPr>
        <p:spPr>
          <a:xfrm>
            <a:off x="372143" y="380901"/>
            <a:ext cx="64179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6.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Pathway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enrichment</a:t>
            </a:r>
            <a:r>
              <a:rPr lang="es-ES" sz="2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ES" sz="2800" b="1" dirty="0" err="1">
                <a:solidFill>
                  <a:schemeClr val="tx2">
                    <a:lumMod val="50000"/>
                  </a:schemeClr>
                </a:solidFill>
              </a:rPr>
              <a:t>analysis</a:t>
            </a:r>
            <a:endParaRPr lang="es-ES" sz="2800" b="1" dirty="0">
              <a:solidFill>
                <a:schemeClr val="tx2">
                  <a:lumMod val="50000"/>
                </a:schemeClr>
              </a:solidFill>
            </a:endParaRPr>
          </a:p>
          <a:p>
            <a:endParaRPr lang="es-ES" sz="10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94620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Paquete">
  <a:themeElements>
    <a:clrScheme name="Paquete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que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que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Paquete</Template>
  <TotalTime>8901</TotalTime>
  <Words>1061</Words>
  <Application>Microsoft Office PowerPoint</Application>
  <PresentationFormat>Widescreen</PresentationFormat>
  <Paragraphs>233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Consolas</vt:lpstr>
      <vt:lpstr>Courier New</vt:lpstr>
      <vt:lpstr>Gill Sans MT</vt:lpstr>
      <vt:lpstr>Palatino</vt:lpstr>
      <vt:lpstr>Paquete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datos de secuenciación de metiloma</dc:title>
  <dc:creator>CBMSO</dc:creator>
  <cp:lastModifiedBy>Maria Santos Romero</cp:lastModifiedBy>
  <cp:revision>135</cp:revision>
  <dcterms:created xsi:type="dcterms:W3CDTF">2024-09-21T15:01:14Z</dcterms:created>
  <dcterms:modified xsi:type="dcterms:W3CDTF">2026-01-19T13:53:46Z</dcterms:modified>
</cp:coreProperties>
</file>